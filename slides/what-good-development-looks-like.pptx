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Framing, said out loud: this deck is not a proposal for a project or a reorganisation. It is an attempt to agree on what good looks like. If we agree here, then when we disagree later about a specific tactic, we have a shared reference point to measure that disagreement against.
Tone for the whole deck: motivate by opportunity, not fear. Do not overclaim. Repeat the central message three times at increasing resolution — one line up front (slide 3), implicitly through the middle, explicit at the close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precise here, because overclaiming costs credibility: the signal is thin and late, not absent. Everyone in the room can name a demo that taught us something — so do not say we learn nothing. The problem is the latency and the strength of the signal, and that it arrives after the decisions it should have informed.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of three passes at the central message. One line, nothing else on the slide. Pause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answer to “this isn't your remit”, and it only works if it is stated here, early — before the product-side material on slide 6, not after someone objects to it.
Quality makes iteration possible; iteration makes quality worth paying for. Neither half pays off alone: quality without iteration is craft with no feedback, iteration without quality stalls as soon as change gets expensive.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capabilities rather than a list of practices to adopt — the practices come back on slide 7, as candidates.
Do not hide the caveat: our production environments are far away, so several DORA measures cannot be taken honestly today. Proxy signals are worth having in the meantime, and the distance to production is itself one of the things worth shortening.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 A — “we can't ship half-finished features to citizens.”
Answer: the risk is lower than it sounds, and we are partly doing this already. Product teams have already accepted releasing features to different groups as they become ready. Users are not upset by getting something usable that improves their situation; they are upset by waiting a year for it. A slice is not a broken feature — it is a smaller, whole one.
Verbal anchor, not on the slide: the two-day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picture out loud: the floor is small and hard; the space above it is large and soft. The common assumption is that the proposal is to soften everything — one look at this should kill that.
The dividing line inside the floor matters: what a tool can verify costs almost nothing to enforce, so it can be genuinely mandatory. What needs human judgement sits just above it — reviewed rather than gated.
Domain-driven design is deliberately not on the scale: it is a family of approaches rather than a practice you either do or don't, so it sits awkwardly on a single axis. Mention if asked.
The untried tier is the clearest argument for the whole model: assumptions about AI tooling go stale within months, which is exactly why it needs a declared measure rather than a policy decided in advance.
This is not a tech radar — the radar's rings carry a scale but its angular dimension is only categories, and inheriting that shape would mean explaining that half of it means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Objections B and C — “experiments mean teams doing whatever they want” and “who pays for a failed experiment?” — are the same objection in two costumes: loss of control over time, and over money.
Cost answer: the expensive thing is not experiments, it is the failed projects we already have — several of them recently. This is a structured way of reducing that risk. It is auditable, and it could be certified as a quality process for developing the process. It is close to guaranteed to bring that cost down eventually.
People answer, probably the stronger one here: management genuinely values the people in this organisation — engaged, not burnt out, many of them spending a whole career with us. Letting them choose which experiments to run and validate is how we get their full intelligence and commitment, not just their compliance.
Plus the shared discipline: experiments are small and bounded, the measure is declared beforehand, and a failed experiment still produces knowledge the organisation keeps.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and highest-resolution pass at the central message. Say the loops out loud, one at a time, and finish on: three parts, one system — any one of them alone stalls.
It reads fine to people who know causal loop diagrams and stays legible to people who don't: every arrow is positive, so more of one means more of the other, and R marks a loop that feeds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picture is deliberately abstract — no axis values, no units, no figures. Real numbers would start an argument about the numbers instead of the point. Concrete anchors (the two-day prototype) go in the telling, not on the slide.
The rhetorical point is the left-hand side: the lines were already diverging years ago, when waterfall delivery met what was already feasible. This is an old gap that widened sharply — much harder to dismiss than a hockey stick that starts at today.
SAY ORALLY, NOT ON A SLIDE: other public administrations have already closed this gap, using lean-startup-style development practices. It is proof of existence, and it neutralises “we're different, we're government” better than any argument from first principles. Keep it off the slide — on a slide it invites a detailed organisational comparison and drags us into tactics. Describe the practices, not the label: startup framing reads as reckless in a compliance culture.
Do not name the pressure everyone already feels. Motivate by opportunity. The gap is mostly tooling and process, not developer capability — say that, and let them ask what closing it would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42B"/>
        </a:solidFill>
      </p:bgPr>
    </p:bg>
    <p:spTree>
      <p:nvGrpSpPr>
        <p:cNvPr id="1" name=""/>
        <p:cNvGrpSpPr/>
        <p:nvPr/>
      </p:nvGrpSpPr>
      <p:grpSpPr>
        <a:xfrm>
          <a:off x="0" y="0"/>
          <a:ext cx="0" cy="0"/>
          <a:chOff x="0" y="0"/>
          <a:chExt cx="0" cy="0"/>
        </a:xfrm>
      </p:grpSpPr>
      <p:sp>
        <p:nvSpPr>
          <p:cNvPr id="2" name="Shape 0"/>
          <p:cNvSpPr/>
          <p:nvPr/>
        </p:nvSpPr>
        <p:spPr>
          <a:xfrm>
            <a:off x="8275320" y="1417320"/>
            <a:ext cx="2331720" cy="2331720"/>
          </a:xfrm>
          <a:prstGeom prst="ellipse">
            <a:avLst/>
          </a:prstGeom>
          <a:ln w="19050">
            <a:solidFill>
              <a:srgbClr val="C1512E">
                <a:alpha val="55000"/>
              </a:srgbClr>
            </a:solidFill>
            <a:prstDash val="solid"/>
          </a:ln>
        </p:spPr>
      </p:sp>
      <p:sp>
        <p:nvSpPr>
          <p:cNvPr id="3" name="Shape 1"/>
          <p:cNvSpPr/>
          <p:nvPr/>
        </p:nvSpPr>
        <p:spPr>
          <a:xfrm>
            <a:off x="9372600" y="2788920"/>
            <a:ext cx="2331720" cy="2331720"/>
          </a:xfrm>
          <a:prstGeom prst="ellipse">
            <a:avLst/>
          </a:prstGeom>
          <a:ln w="19050">
            <a:solidFill>
              <a:srgbClr val="2F7D6B">
                <a:alpha val="55000"/>
              </a:srgbClr>
            </a:solidFill>
            <a:prstDash val="solid"/>
          </a:ln>
        </p:spPr>
      </p:sp>
      <p:sp>
        <p:nvSpPr>
          <p:cNvPr id="4" name="Shape 2"/>
          <p:cNvSpPr/>
          <p:nvPr/>
        </p:nvSpPr>
        <p:spPr>
          <a:xfrm>
            <a:off x="7452360" y="3063240"/>
            <a:ext cx="2331720" cy="2331720"/>
          </a:xfrm>
          <a:prstGeom prst="ellipse">
            <a:avLst/>
          </a:prstGeom>
          <a:ln w="19050">
            <a:solidFill>
              <a:srgbClr val="9FB4BF">
                <a:alpha val="45000"/>
              </a:srgbClr>
            </a:solidFill>
            <a:prstDash val="solid"/>
          </a:ln>
        </p:spPr>
      </p:sp>
      <p:sp>
        <p:nvSpPr>
          <p:cNvPr id="5" name="Text 3"/>
          <p:cNvSpPr/>
          <p:nvPr/>
        </p:nvSpPr>
        <p:spPr>
          <a:xfrm>
            <a:off x="822960" y="1600200"/>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A SHARED PICTURE — NOT A PLAN</a:t>
            </a:r>
            <a:endParaRPr lang="en-US" sz="1150" dirty="0"/>
          </a:p>
        </p:txBody>
      </p:sp>
      <p:sp>
        <p:nvSpPr>
          <p:cNvPr id="6" name="Text 4"/>
          <p:cNvSpPr/>
          <p:nvPr/>
        </p:nvSpPr>
        <p:spPr>
          <a:xfrm>
            <a:off x="822960" y="2057400"/>
            <a:ext cx="6766560" cy="1737360"/>
          </a:xfrm>
          <a:prstGeom prst="rect">
            <a:avLst/>
          </a:prstGeom>
          <a:noFill/>
          <a:ln/>
        </p:spPr>
        <p:txBody>
          <a:bodyPr wrap="square" lIns="0" tIns="0" rIns="0" bIns="0" rtlCol="0" anchor="t"/>
          <a:lstStyle/>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What good development</a:t>
            </a:r>
            <a:endParaRPr lang="en-US" sz="4200" dirty="0"/>
          </a:p>
          <a:p>
            <a:pPr indent="0" marL="0">
              <a:lnSpc>
                <a:spcPts val="4800"/>
              </a:lnSpc>
              <a:buNone/>
            </a:pPr>
            <a:r>
              <a:rPr lang="en-US" sz="4200" b="1" dirty="0">
                <a:solidFill>
                  <a:srgbClr val="FFFFFF"/>
                </a:solidFill>
                <a:latin typeface="Cambria" pitchFamily="34" charset="0"/>
                <a:ea typeface="Cambria" pitchFamily="34" charset="-122"/>
                <a:cs typeface="Cambria" pitchFamily="34" charset="-120"/>
              </a:rPr>
              <a:t>looks like for us.</a:t>
            </a:r>
            <a:endParaRPr lang="en-US" sz="4200" dirty="0"/>
          </a:p>
        </p:txBody>
      </p:sp>
      <p:sp>
        <p:nvSpPr>
          <p:cNvPr id="7" name="Text 5"/>
          <p:cNvSpPr/>
          <p:nvPr/>
        </p:nvSpPr>
        <p:spPr>
          <a:xfrm>
            <a:off x="822960" y="4114800"/>
            <a:ext cx="6035040" cy="914400"/>
          </a:xfrm>
          <a:prstGeom prst="rect">
            <a:avLst/>
          </a:prstGeom>
          <a:noFill/>
          <a:ln/>
        </p:spPr>
        <p:txBody>
          <a:bodyPr wrap="square" lIns="0" tIns="0" rIns="0" bIns="0" rtlCol="0" anchor="t"/>
          <a:lstStyle/>
          <a:p>
            <a:pPr indent="0" marL="0">
              <a:lnSpc>
                <a:spcPts val="2400"/>
              </a:lnSpc>
              <a:buNone/>
            </a:pPr>
            <a:r>
              <a:rPr lang="en-US" sz="1550" dirty="0">
                <a:solidFill>
                  <a:srgbClr val="9FB4BF"/>
                </a:solidFill>
                <a:latin typeface="Calibri" pitchFamily="34" charset="0"/>
                <a:ea typeface="Calibri" pitchFamily="34" charset="-122"/>
                <a:cs typeface="Calibri" pitchFamily="34" charset="-120"/>
              </a:rPr>
              <a:t>A reference point we agree on now, so that later disagreements about tactics have something to be measured against.</a:t>
            </a:r>
            <a:endParaRPr lang="en-US" sz="1550" dirty="0"/>
          </a:p>
        </p:txBody>
      </p:sp>
      <p:sp>
        <p:nvSpPr>
          <p:cNvPr id="8" name="Shape 6"/>
          <p:cNvSpPr/>
          <p:nvPr/>
        </p:nvSpPr>
        <p:spPr>
          <a:xfrm>
            <a:off x="11259007" y="6291072"/>
            <a:ext cx="137160" cy="137160"/>
          </a:xfrm>
          <a:prstGeom prst="ellipse">
            <a:avLst/>
          </a:prstGeom>
          <a:ln w="12700">
            <a:solidFill>
              <a:srgbClr val="C1512E"/>
            </a:solidFill>
            <a:prstDash val="solid"/>
          </a:ln>
        </p:spPr>
      </p:sp>
      <p:sp>
        <p:nvSpPr>
          <p:cNvPr id="9" name="Text 7"/>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9FB4BF"/>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THE PROBLEM</a:t>
            </a:r>
            <a:endParaRPr lang="en-US" sz="1150" dirty="0"/>
          </a:p>
        </p:txBody>
      </p:sp>
      <p:sp>
        <p:nvSpPr>
          <p:cNvPr id="3" name="Text 1"/>
          <p:cNvSpPr/>
          <p:nvPr/>
        </p:nvSpPr>
        <p:spPr>
          <a:xfrm>
            <a:off x="822960" y="804672"/>
            <a:ext cx="10545775" cy="685800"/>
          </a:xfrm>
          <a:prstGeom prst="rect">
            <a:avLst/>
          </a:prstGeom>
          <a:noFill/>
          <a:ln/>
        </p:spPr>
        <p:txBody>
          <a:bodyPr wrap="square" lIns="0" tIns="0" rIns="0" bIns="0" rtlCol="0" anchor="t"/>
          <a:lstStyle/>
          <a:p>
            <a:pPr indent="0" marL="0">
              <a:buNone/>
            </a:pPr>
            <a:r>
              <a:rPr lang="en-US" sz="3400" b="1" dirty="0">
                <a:solidFill>
                  <a:srgbClr val="17242B"/>
                </a:solidFill>
                <a:latin typeface="Cambria" pitchFamily="34" charset="0"/>
                <a:ea typeface="Cambria" pitchFamily="34" charset="-122"/>
                <a:cs typeface="Cambria" pitchFamily="34" charset="-120"/>
              </a:rPr>
              <a:t>Long cycles, late feedback.</a:t>
            </a:r>
            <a:endParaRPr lang="en-US" sz="3400" dirty="0"/>
          </a:p>
        </p:txBody>
      </p:sp>
      <p:sp>
        <p:nvSpPr>
          <p:cNvPr id="4" name="Text 2"/>
          <p:cNvSpPr/>
          <p:nvPr/>
        </p:nvSpPr>
        <p:spPr>
          <a:xfrm>
            <a:off x="822960" y="2057400"/>
            <a:ext cx="4846320" cy="731520"/>
          </a:xfrm>
          <a:prstGeom prst="rect">
            <a:avLst/>
          </a:prstGeom>
          <a:noFill/>
          <a:ln/>
        </p:spPr>
        <p:txBody>
          <a:bodyPr wrap="square" lIns="0" tIns="0" rIns="0" bIns="0" rtlCol="0" anchor="t"/>
          <a:lstStyle/>
          <a:p>
            <a:pPr indent="0" marL="0">
              <a:lnSpc>
                <a:spcPts val="2400"/>
              </a:lnSpc>
              <a:buNone/>
            </a:pPr>
            <a:r>
              <a:rPr lang="en-US" sz="1600" b="1" dirty="0">
                <a:solidFill>
                  <a:srgbClr val="17242B"/>
                </a:solidFill>
                <a:latin typeface="Calibri" pitchFamily="34" charset="0"/>
                <a:ea typeface="Calibri" pitchFamily="34" charset="-122"/>
                <a:cs typeface="Calibri" pitchFamily="34" charset="-120"/>
              </a:rPr>
              <a:t>We are not flying blind. </a:t>
            </a:r>
            <a:pPr indent="0" marL="0">
              <a:lnSpc>
                <a:spcPts val="2400"/>
              </a:lnSpc>
              <a:buNone/>
            </a:pPr>
            <a:r>
              <a:rPr lang="en-US" sz="1600" dirty="0">
                <a:solidFill>
                  <a:srgbClr val="3D5766"/>
                </a:solidFill>
                <a:latin typeface="Calibri" pitchFamily="34" charset="0"/>
                <a:ea typeface="Calibri" pitchFamily="34" charset="-122"/>
                <a:cs typeface="Calibri" pitchFamily="34" charset="-120"/>
              </a:rPr>
              <a:t>We do get signal — from demos, from testers, from QA.</a:t>
            </a:r>
            <a:endParaRPr lang="en-US" sz="1600" dirty="0"/>
          </a:p>
        </p:txBody>
      </p:sp>
      <p:sp>
        <p:nvSpPr>
          <p:cNvPr id="5" name="Text 3"/>
          <p:cNvSpPr/>
          <p:nvPr/>
        </p:nvSpPr>
        <p:spPr>
          <a:xfrm>
            <a:off x="822960" y="2834640"/>
            <a:ext cx="4846320" cy="1097280"/>
          </a:xfrm>
          <a:prstGeom prst="rect">
            <a:avLst/>
          </a:prstGeom>
          <a:noFill/>
          <a:ln/>
        </p:spPr>
        <p:txBody>
          <a:bodyPr wrap="square" lIns="0" tIns="0" rIns="0" bIns="0" rtlCol="0" anchor="t"/>
          <a:lstStyle/>
          <a:p>
            <a:pPr indent="0" marL="0">
              <a:lnSpc>
                <a:spcPts val="2400"/>
              </a:lnSpc>
              <a:buNone/>
            </a:pPr>
            <a:r>
              <a:rPr lang="en-US" sz="1600" dirty="0">
                <a:solidFill>
                  <a:srgbClr val="3D5766"/>
                </a:solidFill>
                <a:latin typeface="Calibri" pitchFamily="34" charset="0"/>
                <a:ea typeface="Calibri" pitchFamily="34" charset="-122"/>
                <a:cs typeface="Calibri" pitchFamily="34" charset="-120"/>
              </a:rPr>
              <a:t>But it is thin, and it arrives after the big decisions have already been locked. By the time we learn something, the cost of acting on it is at its highest.</a:t>
            </a:r>
            <a:endParaRPr lang="en-US" sz="1600" dirty="0"/>
          </a:p>
        </p:txBody>
      </p:sp>
      <p:sp>
        <p:nvSpPr>
          <p:cNvPr id="6" name="Shape 4"/>
          <p:cNvSpPr/>
          <p:nvPr/>
        </p:nvSpPr>
        <p:spPr>
          <a:xfrm>
            <a:off x="822960" y="4617720"/>
            <a:ext cx="10545775" cy="1234440"/>
          </a:xfrm>
          <a:prstGeom prst="roundRect">
            <a:avLst>
              <a:gd name="adj" fmla="val 4444"/>
            </a:avLst>
          </a:prstGeom>
          <a:solidFill>
            <a:srgbClr val="EDF1F3"/>
          </a:solidFill>
          <a:ln/>
        </p:spPr>
      </p:sp>
      <p:sp>
        <p:nvSpPr>
          <p:cNvPr id="7" name="Text 5"/>
          <p:cNvSpPr/>
          <p:nvPr/>
        </p:nvSpPr>
        <p:spPr>
          <a:xfrm>
            <a:off x="1234440" y="4617720"/>
            <a:ext cx="9722815" cy="1234440"/>
          </a:xfrm>
          <a:prstGeom prst="rect">
            <a:avLst/>
          </a:prstGeom>
          <a:noFill/>
          <a:ln/>
        </p:spPr>
        <p:txBody>
          <a:bodyPr wrap="square" lIns="0" tIns="0" rIns="0" bIns="0" rtlCol="0" anchor="ctr"/>
          <a:lstStyle/>
          <a:p>
            <a:pPr indent="0" marL="0">
              <a:buNone/>
            </a:pPr>
            <a:r>
              <a:rPr lang="en-US" sz="1700" b="1" dirty="0">
                <a:solidFill>
                  <a:srgbClr val="17242B"/>
                </a:solidFill>
                <a:latin typeface="Calibri" pitchFamily="34" charset="0"/>
                <a:ea typeface="Calibri" pitchFamily="34" charset="-122"/>
                <a:cs typeface="Calibri" pitchFamily="34" charset="-120"/>
              </a:rPr>
              <a:t>Not </a:t>
            </a:r>
            <a:pPr indent="0" marL="0">
              <a:buNone/>
            </a:pPr>
            <a:r>
              <a:rPr lang="en-US" sz="1700" i="1" dirty="0">
                <a:solidFill>
                  <a:srgbClr val="3D5766"/>
                </a:solidFill>
                <a:latin typeface="Calibri" pitchFamily="34" charset="0"/>
                <a:ea typeface="Calibri" pitchFamily="34" charset="-122"/>
                <a:cs typeface="Calibri" pitchFamily="34" charset="-120"/>
              </a:rPr>
              <a:t>“we learn nothing.”</a:t>
            </a:r>
            <a:pPr indent="0" marL="0">
              <a:buNone/>
            </a:pPr>
            <a:r>
              <a:rPr lang="en-US" sz="1700" b="1" dirty="0">
                <a:solidFill>
                  <a:srgbClr val="17242B"/>
                </a:solidFill>
                <a:latin typeface="Calibri" pitchFamily="34" charset="0"/>
                <a:ea typeface="Calibri" pitchFamily="34" charset="-122"/>
                <a:cs typeface="Calibri" pitchFamily="34" charset="-120"/>
              </a:rPr>
              <a:t>     Rather: </a:t>
            </a:r>
            <a:pPr indent="0" marL="0">
              <a:buNone/>
            </a:pPr>
            <a:r>
              <a:rPr lang="en-US" sz="1700" b="1" i="1" dirty="0">
                <a:solidFill>
                  <a:srgbClr val="C1512E"/>
                </a:solidFill>
                <a:latin typeface="Calibri" pitchFamily="34" charset="0"/>
                <a:ea typeface="Calibri" pitchFamily="34" charset="-122"/>
                <a:cs typeface="Calibri" pitchFamily="34" charset="-120"/>
              </a:rPr>
              <a:t>“we learn slowly, from a weak signal.”</a:t>
            </a:r>
            <a:endParaRPr lang="en-US" sz="1700" dirty="0"/>
          </a:p>
        </p:txBody>
      </p:sp>
      <p:sp>
        <p:nvSpPr>
          <p:cNvPr id="8" name="Text 6"/>
          <p:cNvSpPr/>
          <p:nvPr/>
        </p:nvSpPr>
        <p:spPr>
          <a:xfrm>
            <a:off x="6309360" y="2029968"/>
            <a:ext cx="2743200" cy="228600"/>
          </a:xfrm>
          <a:prstGeom prst="rect">
            <a:avLst/>
          </a:prstGeom>
          <a:noFill/>
          <a:ln/>
        </p:spPr>
        <p:txBody>
          <a:bodyPr wrap="square" lIns="0" tIns="0" rIns="0" bIns="0" rtlCol="0" anchor="t"/>
          <a:lstStyle/>
          <a:p>
            <a:pPr indent="0" marL="0">
              <a:buNone/>
            </a:pPr>
            <a:r>
              <a:rPr lang="en-US" sz="1050" b="1" spc="160" kern="0" dirty="0">
                <a:solidFill>
                  <a:srgbClr val="7C8D97"/>
                </a:solidFill>
                <a:latin typeface="Calibri" pitchFamily="34" charset="0"/>
                <a:ea typeface="Calibri" pitchFamily="34" charset="-122"/>
                <a:cs typeface="Calibri" pitchFamily="34" charset="-120"/>
              </a:rPr>
              <a:t>ONE CYCLE</a:t>
            </a:r>
            <a:endParaRPr lang="en-US" sz="1050" dirty="0"/>
          </a:p>
        </p:txBody>
      </p:sp>
      <p:sp>
        <p:nvSpPr>
          <p:cNvPr id="9" name="Shape 7"/>
          <p:cNvSpPr/>
          <p:nvPr/>
        </p:nvSpPr>
        <p:spPr>
          <a:xfrm>
            <a:off x="6309360" y="3063240"/>
            <a:ext cx="5120640" cy="384048"/>
          </a:xfrm>
          <a:prstGeom prst="rect">
            <a:avLst/>
          </a:prstGeom>
          <a:solidFill>
            <a:srgbClr val="E1E7EA"/>
          </a:solidFill>
          <a:ln/>
        </p:spPr>
      </p:sp>
      <p:sp>
        <p:nvSpPr>
          <p:cNvPr id="10" name="Text 8"/>
          <p:cNvSpPr/>
          <p:nvPr/>
        </p:nvSpPr>
        <p:spPr>
          <a:xfrm>
            <a:off x="6309360" y="3063240"/>
            <a:ext cx="5120640" cy="384048"/>
          </a:xfrm>
          <a:prstGeom prst="rect">
            <a:avLst/>
          </a:prstGeom>
          <a:noFill/>
          <a:ln/>
        </p:spPr>
        <p:txBody>
          <a:bodyPr wrap="square" lIns="0" tIns="0" rIns="0" bIns="0" rtlCol="0" anchor="ctr"/>
          <a:lstStyle/>
          <a:p>
            <a:pPr algn="ctr" indent="0" marL="0">
              <a:buNone/>
            </a:pPr>
            <a:r>
              <a:rPr lang="en-US" sz="1100" dirty="0">
                <a:solidFill>
                  <a:srgbClr val="3D5766"/>
                </a:solidFill>
                <a:latin typeface="Calibri" pitchFamily="34" charset="0"/>
                <a:ea typeface="Calibri" pitchFamily="34" charset="-122"/>
                <a:cs typeface="Calibri" pitchFamily="34" charset="-120"/>
              </a:rPr>
              <a:t>months of building</a:t>
            </a:r>
            <a:endParaRPr lang="en-US" sz="1100" dirty="0"/>
          </a:p>
        </p:txBody>
      </p:sp>
      <p:sp>
        <p:nvSpPr>
          <p:cNvPr id="11" name="Shape 9"/>
          <p:cNvSpPr/>
          <p:nvPr/>
        </p:nvSpPr>
        <p:spPr>
          <a:xfrm>
            <a:off x="6309360" y="3044952"/>
            <a:ext cx="50292" cy="420624"/>
          </a:xfrm>
          <a:prstGeom prst="rect">
            <a:avLst/>
          </a:prstGeom>
          <a:solidFill>
            <a:srgbClr val="C1512E"/>
          </a:solidFill>
          <a:ln/>
        </p:spPr>
      </p:sp>
      <p:sp>
        <p:nvSpPr>
          <p:cNvPr id="12" name="Text 10"/>
          <p:cNvSpPr/>
          <p:nvPr/>
        </p:nvSpPr>
        <p:spPr>
          <a:xfrm>
            <a:off x="6236208" y="2377440"/>
            <a:ext cx="1371600" cy="594360"/>
          </a:xfrm>
          <a:prstGeom prst="rect">
            <a:avLst/>
          </a:prstGeom>
          <a:noFill/>
          <a:ln/>
        </p:spPr>
        <p:txBody>
          <a:bodyPr wrap="square" lIns="0" tIns="0" rIns="0" bIns="0" rtlCol="0" anchor="t"/>
          <a:lstStyle/>
          <a:p>
            <a:pPr indent="0" marL="0">
              <a:lnSpc>
                <a:spcPts val="1300"/>
              </a:lnSpc>
              <a:buNone/>
            </a:pPr>
            <a:r>
              <a:rPr lang="en-US" sz="1050" b="1" dirty="0">
                <a:solidFill>
                  <a:srgbClr val="C1512E"/>
                </a:solidFill>
                <a:latin typeface="Calibri" pitchFamily="34" charset="0"/>
                <a:ea typeface="Calibri" pitchFamily="34" charset="-122"/>
                <a:cs typeface="Calibri" pitchFamily="34" charset="-120"/>
              </a:rPr>
              <a:t>decisions</a:t>
            </a:r>
            <a:endParaRPr lang="en-US" sz="1050" dirty="0"/>
          </a:p>
          <a:p>
            <a:pPr indent="0" marL="0">
              <a:lnSpc>
                <a:spcPts val="1300"/>
              </a:lnSpc>
              <a:buNone/>
            </a:pPr>
            <a:r>
              <a:rPr lang="en-US" sz="1050" b="1" dirty="0">
                <a:solidFill>
                  <a:srgbClr val="C1512E"/>
                </a:solidFill>
                <a:latin typeface="Calibri" pitchFamily="34" charset="0"/>
                <a:ea typeface="Calibri" pitchFamily="34" charset="-122"/>
                <a:cs typeface="Calibri" pitchFamily="34" charset="-120"/>
              </a:rPr>
              <a:t>locked</a:t>
            </a:r>
            <a:endParaRPr lang="en-US" sz="1050" dirty="0"/>
          </a:p>
        </p:txBody>
      </p:sp>
      <p:sp>
        <p:nvSpPr>
          <p:cNvPr id="13" name="Shape 11"/>
          <p:cNvSpPr/>
          <p:nvPr/>
        </p:nvSpPr>
        <p:spPr>
          <a:xfrm>
            <a:off x="10012680" y="3172968"/>
            <a:ext cx="164592" cy="164592"/>
          </a:xfrm>
          <a:prstGeom prst="ellipse">
            <a:avLst/>
          </a:prstGeom>
          <a:solidFill>
            <a:srgbClr val="2F7D6B"/>
          </a:solidFill>
          <a:ln/>
        </p:spPr>
      </p:sp>
      <p:sp>
        <p:nvSpPr>
          <p:cNvPr id="14" name="Shape 12"/>
          <p:cNvSpPr/>
          <p:nvPr/>
        </p:nvSpPr>
        <p:spPr>
          <a:xfrm>
            <a:off x="10515600" y="3172968"/>
            <a:ext cx="164592" cy="164592"/>
          </a:xfrm>
          <a:prstGeom prst="ellipse">
            <a:avLst/>
          </a:prstGeom>
          <a:solidFill>
            <a:srgbClr val="2F7D6B"/>
          </a:solidFill>
          <a:ln/>
        </p:spPr>
      </p:sp>
      <p:sp>
        <p:nvSpPr>
          <p:cNvPr id="15" name="Shape 13"/>
          <p:cNvSpPr/>
          <p:nvPr/>
        </p:nvSpPr>
        <p:spPr>
          <a:xfrm>
            <a:off x="11018520" y="3172968"/>
            <a:ext cx="164592" cy="164592"/>
          </a:xfrm>
          <a:prstGeom prst="ellipse">
            <a:avLst/>
          </a:prstGeom>
          <a:solidFill>
            <a:srgbClr val="2F7D6B"/>
          </a:solidFill>
          <a:ln/>
        </p:spPr>
      </p:sp>
      <p:sp>
        <p:nvSpPr>
          <p:cNvPr id="16" name="Text 14"/>
          <p:cNvSpPr/>
          <p:nvPr/>
        </p:nvSpPr>
        <p:spPr>
          <a:xfrm>
            <a:off x="9098280" y="2679192"/>
            <a:ext cx="2377440" cy="274320"/>
          </a:xfrm>
          <a:prstGeom prst="rect">
            <a:avLst/>
          </a:prstGeom>
          <a:noFill/>
          <a:ln/>
        </p:spPr>
        <p:txBody>
          <a:bodyPr wrap="square" lIns="0" tIns="0" rIns="0" bIns="0" rtlCol="0" anchor="t"/>
          <a:lstStyle/>
          <a:p>
            <a:pPr algn="r" indent="0" marL="0">
              <a:buNone/>
            </a:pPr>
            <a:r>
              <a:rPr lang="en-US" sz="1050" b="1" dirty="0">
                <a:solidFill>
                  <a:srgbClr val="2F7D6B"/>
                </a:solidFill>
                <a:latin typeface="Calibri" pitchFamily="34" charset="0"/>
                <a:ea typeface="Calibri" pitchFamily="34" charset="-122"/>
                <a:cs typeface="Calibri" pitchFamily="34" charset="-120"/>
              </a:rPr>
              <a:t>thin signal, all at the end</a:t>
            </a:r>
            <a:endParaRPr lang="en-US" sz="1050" dirty="0"/>
          </a:p>
        </p:txBody>
      </p:sp>
      <p:sp>
        <p:nvSpPr>
          <p:cNvPr id="17" name="Text 15"/>
          <p:cNvSpPr/>
          <p:nvPr/>
        </p:nvSpPr>
        <p:spPr>
          <a:xfrm>
            <a:off x="9098280" y="3520440"/>
            <a:ext cx="2377440" cy="274320"/>
          </a:xfrm>
          <a:prstGeom prst="rect">
            <a:avLst/>
          </a:prstGeom>
          <a:noFill/>
          <a:ln/>
        </p:spPr>
        <p:txBody>
          <a:bodyPr wrap="square" lIns="0" tIns="0" rIns="0" bIns="0" rtlCol="0" anchor="t"/>
          <a:lstStyle/>
          <a:p>
            <a:pPr algn="r" indent="0" marL="0">
              <a:buNone/>
            </a:pPr>
            <a:r>
              <a:rPr lang="en-US" sz="1050" dirty="0">
                <a:solidFill>
                  <a:srgbClr val="7C8D97"/>
                </a:solidFill>
                <a:latin typeface="Calibri" pitchFamily="34" charset="0"/>
                <a:ea typeface="Calibri" pitchFamily="34" charset="-122"/>
                <a:cs typeface="Calibri" pitchFamily="34" charset="-120"/>
              </a:rPr>
              <a:t>demo · testers · QA</a:t>
            </a:r>
            <a:endParaRPr lang="en-US" sz="1050" dirty="0"/>
          </a:p>
        </p:txBody>
      </p:sp>
      <p:sp>
        <p:nvSpPr>
          <p:cNvPr id="18" name="Shape 16"/>
          <p:cNvSpPr/>
          <p:nvPr/>
        </p:nvSpPr>
        <p:spPr>
          <a:xfrm>
            <a:off x="6400800" y="4023360"/>
            <a:ext cx="4846320" cy="0"/>
          </a:xfrm>
          <a:prstGeom prst="line">
            <a:avLst/>
          </a:prstGeom>
          <a:noFill/>
          <a:ln w="19050">
            <a:solidFill>
              <a:srgbClr val="7C8D97"/>
            </a:solidFill>
            <a:prstDash val="dash"/>
            <a:headEnd type="triangle"/>
          </a:ln>
        </p:spPr>
      </p:sp>
      <p:sp>
        <p:nvSpPr>
          <p:cNvPr id="19" name="Text 17"/>
          <p:cNvSpPr/>
          <p:nvPr/>
        </p:nvSpPr>
        <p:spPr>
          <a:xfrm>
            <a:off x="6309360" y="4160520"/>
            <a:ext cx="5120640" cy="274320"/>
          </a:xfrm>
          <a:prstGeom prst="rect">
            <a:avLst/>
          </a:prstGeom>
          <a:noFill/>
          <a:ln/>
        </p:spPr>
        <p:txBody>
          <a:bodyPr wrap="square" lIns="0" tIns="0" rIns="0" bIns="0" rtlCol="0" anchor="t"/>
          <a:lstStyle/>
          <a:p>
            <a:pPr algn="ctr" indent="0" marL="0">
              <a:buNone/>
            </a:pPr>
            <a:r>
              <a:rPr lang="en-US" sz="1100" i="1" dirty="0">
                <a:solidFill>
                  <a:srgbClr val="7C8D97"/>
                </a:solidFill>
                <a:latin typeface="Calibri" pitchFamily="34" charset="0"/>
                <a:ea typeface="Calibri" pitchFamily="34" charset="-122"/>
                <a:cs typeface="Calibri" pitchFamily="34" charset="-120"/>
              </a:rPr>
              <a:t>…and everything we learned only helps the next one</a:t>
            </a:r>
            <a:endParaRPr lang="en-US" sz="1100" dirty="0"/>
          </a:p>
        </p:txBody>
      </p:sp>
      <p:sp>
        <p:nvSpPr>
          <p:cNvPr id="20" name="Shape 18"/>
          <p:cNvSpPr/>
          <p:nvPr/>
        </p:nvSpPr>
        <p:spPr>
          <a:xfrm>
            <a:off x="11259007" y="6291072"/>
            <a:ext cx="137160" cy="137160"/>
          </a:xfrm>
          <a:prstGeom prst="ellipse">
            <a:avLst/>
          </a:prstGeom>
          <a:ln w="12700">
            <a:solidFill>
              <a:srgbClr val="7C8D97"/>
            </a:solidFill>
            <a:prstDash val="solid"/>
          </a:ln>
        </p:spPr>
      </p:sp>
      <p:sp>
        <p:nvSpPr>
          <p:cNvPr id="21" name="Text 19"/>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7C8D97"/>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7242B"/>
        </a:solidFill>
      </p:bgPr>
    </p:bg>
    <p:spTree>
      <p:nvGrpSpPr>
        <p:cNvPr id="1" name=""/>
        <p:cNvGrpSpPr/>
        <p:nvPr/>
      </p:nvGrpSpPr>
      <p:grpSpPr>
        <a:xfrm>
          <a:off x="0" y="0"/>
          <a:ext cx="0" cy="0"/>
          <a:chOff x="0" y="0"/>
          <a:chExt cx="0" cy="0"/>
        </a:xfrm>
      </p:grpSpPr>
      <p:sp>
        <p:nvSpPr>
          <p:cNvPr id="2" name="Text 0"/>
          <p:cNvSpPr/>
          <p:nvPr/>
        </p:nvSpPr>
        <p:spPr>
          <a:xfrm>
            <a:off x="822960" y="2240280"/>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THE ORGANISING PRINCIPLE</a:t>
            </a:r>
            <a:endParaRPr lang="en-US" sz="1150" dirty="0"/>
          </a:p>
        </p:txBody>
      </p:sp>
      <p:sp>
        <p:nvSpPr>
          <p:cNvPr id="3" name="Text 1"/>
          <p:cNvSpPr/>
          <p:nvPr/>
        </p:nvSpPr>
        <p:spPr>
          <a:xfrm>
            <a:off x="822960" y="2697480"/>
            <a:ext cx="10058400" cy="1280160"/>
          </a:xfrm>
          <a:prstGeom prst="rect">
            <a:avLst/>
          </a:prstGeom>
          <a:noFill/>
          <a:ln/>
        </p:spPr>
        <p:txBody>
          <a:bodyPr wrap="square" lIns="0" tIns="0" rIns="0" bIns="0" rtlCol="0" anchor="t"/>
          <a:lstStyle/>
          <a:p>
            <a:pPr indent="0" marL="0">
              <a:buNone/>
            </a:pPr>
            <a:r>
              <a:rPr lang="en-US" sz="6600" b="1" dirty="0">
                <a:solidFill>
                  <a:srgbClr val="FFFFFF"/>
                </a:solidFill>
                <a:latin typeface="Cambria" pitchFamily="34" charset="0"/>
                <a:ea typeface="Cambria" pitchFamily="34" charset="-122"/>
                <a:cs typeface="Cambria" pitchFamily="34" charset="-120"/>
              </a:rPr>
              <a:t>Shorten the loop.</a:t>
            </a:r>
            <a:endParaRPr lang="en-US" sz="6600" dirty="0"/>
          </a:p>
        </p:txBody>
      </p:sp>
      <p:sp>
        <p:nvSpPr>
          <p:cNvPr id="4" name="Text 2"/>
          <p:cNvSpPr/>
          <p:nvPr/>
        </p:nvSpPr>
        <p:spPr>
          <a:xfrm>
            <a:off x="822960" y="4069080"/>
            <a:ext cx="7315200" cy="457200"/>
          </a:xfrm>
          <a:prstGeom prst="rect">
            <a:avLst/>
          </a:prstGeom>
          <a:noFill/>
          <a:ln/>
        </p:spPr>
        <p:txBody>
          <a:bodyPr wrap="square" lIns="0" tIns="0" rIns="0" bIns="0" rtlCol="0" anchor="t"/>
          <a:lstStyle/>
          <a:p>
            <a:pPr indent="0" marL="0">
              <a:buNone/>
            </a:pPr>
            <a:r>
              <a:rPr lang="en-US" sz="1650" dirty="0">
                <a:solidFill>
                  <a:srgbClr val="9FB4BF"/>
                </a:solidFill>
                <a:latin typeface="Calibri" pitchFamily="34" charset="0"/>
                <a:ea typeface="Calibri" pitchFamily="34" charset="-122"/>
                <a:cs typeface="Calibri" pitchFamily="34" charset="-120"/>
              </a:rPr>
              <a:t>Everything that follows is a way of doing that.</a:t>
            </a:r>
            <a:endParaRPr lang="en-US" sz="1650" dirty="0"/>
          </a:p>
        </p:txBody>
      </p:sp>
      <p:sp>
        <p:nvSpPr>
          <p:cNvPr id="5" name="Shape 3"/>
          <p:cNvSpPr/>
          <p:nvPr/>
        </p:nvSpPr>
        <p:spPr>
          <a:xfrm>
            <a:off x="10195560" y="2651760"/>
            <a:ext cx="1371600" cy="1371600"/>
          </a:xfrm>
          <a:prstGeom prst="ellipse">
            <a:avLst/>
          </a:prstGeom>
          <a:ln w="22225">
            <a:solidFill>
              <a:srgbClr val="C1512E">
                <a:alpha val="70000"/>
              </a:srgbClr>
            </a:solidFill>
            <a:prstDash val="solid"/>
          </a:ln>
        </p:spPr>
      </p:sp>
      <p:sp>
        <p:nvSpPr>
          <p:cNvPr id="6" name="Shape 4"/>
          <p:cNvSpPr/>
          <p:nvPr/>
        </p:nvSpPr>
        <p:spPr>
          <a:xfrm>
            <a:off x="11259007" y="6291072"/>
            <a:ext cx="137160" cy="137160"/>
          </a:xfrm>
          <a:prstGeom prst="ellipse">
            <a:avLst/>
          </a:prstGeom>
          <a:ln w="12700">
            <a:solidFill>
              <a:srgbClr val="C1512E"/>
            </a:solidFill>
            <a:prstDash val="solid"/>
          </a:ln>
        </p:spPr>
      </p:sp>
      <p:sp>
        <p:nvSpPr>
          <p:cNvPr id="7" name="Text 5"/>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9FB4BF"/>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THE COUPLING</a:t>
            </a:r>
            <a:endParaRPr lang="en-US" sz="1150" dirty="0"/>
          </a:p>
        </p:txBody>
      </p:sp>
      <p:sp>
        <p:nvSpPr>
          <p:cNvPr id="3" name="Text 1"/>
          <p:cNvSpPr/>
          <p:nvPr/>
        </p:nvSpPr>
        <p:spPr>
          <a:xfrm>
            <a:off x="822960" y="804672"/>
            <a:ext cx="10545775" cy="685800"/>
          </a:xfrm>
          <a:prstGeom prst="rect">
            <a:avLst/>
          </a:prstGeom>
          <a:noFill/>
          <a:ln/>
        </p:spPr>
        <p:txBody>
          <a:bodyPr wrap="square" lIns="0" tIns="0" rIns="0" bIns="0" rtlCol="0" anchor="t"/>
          <a:lstStyle/>
          <a:p>
            <a:pPr indent="0" marL="0">
              <a:buNone/>
            </a:pPr>
            <a:r>
              <a:rPr lang="en-US" sz="3400" b="1" dirty="0">
                <a:solidFill>
                  <a:srgbClr val="17242B"/>
                </a:solidFill>
                <a:latin typeface="Cambria" pitchFamily="34" charset="0"/>
                <a:ea typeface="Cambria" pitchFamily="34" charset="-122"/>
                <a:cs typeface="Cambria" pitchFamily="34" charset="-120"/>
              </a:rPr>
              <a:t>Technical quality and product iteration require each other.</a:t>
            </a:r>
            <a:endParaRPr lang="en-US" sz="3400" dirty="0"/>
          </a:p>
        </p:txBody>
      </p:sp>
      <p:sp>
        <p:nvSpPr>
          <p:cNvPr id="4" name="Shape 2"/>
          <p:cNvSpPr/>
          <p:nvPr/>
        </p:nvSpPr>
        <p:spPr>
          <a:xfrm>
            <a:off x="822960" y="2148840"/>
            <a:ext cx="4114800" cy="1737360"/>
          </a:xfrm>
          <a:prstGeom prst="roundRect">
            <a:avLst>
              <a:gd name="adj" fmla="val 3158"/>
            </a:avLst>
          </a:prstGeom>
          <a:solidFill>
            <a:srgbClr val="EDF1F3"/>
          </a:solidFill>
          <a:ln/>
        </p:spPr>
      </p:sp>
      <p:sp>
        <p:nvSpPr>
          <p:cNvPr id="5" name="Text 3"/>
          <p:cNvSpPr/>
          <p:nvPr/>
        </p:nvSpPr>
        <p:spPr>
          <a:xfrm>
            <a:off x="1143000" y="2423160"/>
            <a:ext cx="3474720" cy="365760"/>
          </a:xfrm>
          <a:prstGeom prst="rect">
            <a:avLst/>
          </a:prstGeom>
          <a:noFill/>
          <a:ln/>
        </p:spPr>
        <p:txBody>
          <a:bodyPr wrap="square" lIns="0" tIns="0" rIns="0" bIns="0" rtlCol="0" anchor="t"/>
          <a:lstStyle/>
          <a:p>
            <a:pPr indent="0" marL="0">
              <a:buNone/>
            </a:pPr>
            <a:r>
              <a:rPr lang="en-US" sz="2100" b="1" dirty="0">
                <a:solidFill>
                  <a:srgbClr val="17242B"/>
                </a:solidFill>
                <a:latin typeface="Cambria" pitchFamily="34" charset="0"/>
                <a:ea typeface="Cambria" pitchFamily="34" charset="-122"/>
                <a:cs typeface="Cambria" pitchFamily="34" charset="-120"/>
              </a:rPr>
              <a:t>Technical quality</a:t>
            </a:r>
            <a:endParaRPr lang="en-US" sz="2100" dirty="0"/>
          </a:p>
        </p:txBody>
      </p:sp>
      <p:sp>
        <p:nvSpPr>
          <p:cNvPr id="6" name="Text 4"/>
          <p:cNvSpPr/>
          <p:nvPr/>
        </p:nvSpPr>
        <p:spPr>
          <a:xfrm>
            <a:off x="1143000" y="2898648"/>
            <a:ext cx="3474720" cy="777240"/>
          </a:xfrm>
          <a:prstGeom prst="rect">
            <a:avLst/>
          </a:prstGeom>
          <a:noFill/>
          <a:ln/>
        </p:spPr>
        <p:txBody>
          <a:bodyPr wrap="square" lIns="0" tIns="0" rIns="0" bIns="0" rtlCol="0" anchor="t"/>
          <a:lstStyle/>
          <a:p>
            <a:pPr indent="0" marL="0">
              <a:lnSpc>
                <a:spcPts val="1900"/>
              </a:lnSpc>
              <a:buNone/>
            </a:pPr>
            <a:r>
              <a:rPr lang="en-US" sz="1350" dirty="0">
                <a:solidFill>
                  <a:srgbClr val="3D5766"/>
                </a:solidFill>
                <a:latin typeface="Calibri" pitchFamily="34" charset="0"/>
                <a:ea typeface="Calibri" pitchFamily="34" charset="-122"/>
                <a:cs typeface="Calibri" pitchFamily="34" charset="-120"/>
              </a:rPr>
              <a:t>Change stays cheap and safe to make, for as long as the product is alive.</a:t>
            </a:r>
            <a:endParaRPr lang="en-US" sz="1350" dirty="0"/>
          </a:p>
        </p:txBody>
      </p:sp>
      <p:sp>
        <p:nvSpPr>
          <p:cNvPr id="7" name="Shape 5"/>
          <p:cNvSpPr/>
          <p:nvPr/>
        </p:nvSpPr>
        <p:spPr>
          <a:xfrm>
            <a:off x="7251192" y="2148840"/>
            <a:ext cx="4114800" cy="1737360"/>
          </a:xfrm>
          <a:prstGeom prst="roundRect">
            <a:avLst>
              <a:gd name="adj" fmla="val 3158"/>
            </a:avLst>
          </a:prstGeom>
          <a:solidFill>
            <a:srgbClr val="EDF1F3"/>
          </a:solidFill>
          <a:ln/>
        </p:spPr>
      </p:sp>
      <p:sp>
        <p:nvSpPr>
          <p:cNvPr id="8" name="Text 6"/>
          <p:cNvSpPr/>
          <p:nvPr/>
        </p:nvSpPr>
        <p:spPr>
          <a:xfrm>
            <a:off x="7571232" y="2423160"/>
            <a:ext cx="3474720" cy="365760"/>
          </a:xfrm>
          <a:prstGeom prst="rect">
            <a:avLst/>
          </a:prstGeom>
          <a:noFill/>
          <a:ln/>
        </p:spPr>
        <p:txBody>
          <a:bodyPr wrap="square" lIns="0" tIns="0" rIns="0" bIns="0" rtlCol="0" anchor="t"/>
          <a:lstStyle/>
          <a:p>
            <a:pPr indent="0" marL="0">
              <a:buNone/>
            </a:pPr>
            <a:r>
              <a:rPr lang="en-US" sz="2100" b="1" dirty="0">
                <a:solidFill>
                  <a:srgbClr val="17242B"/>
                </a:solidFill>
                <a:latin typeface="Cambria" pitchFamily="34" charset="0"/>
                <a:ea typeface="Cambria" pitchFamily="34" charset="-122"/>
                <a:cs typeface="Cambria" pitchFamily="34" charset="-120"/>
              </a:rPr>
              <a:t>Product iteration</a:t>
            </a:r>
            <a:endParaRPr lang="en-US" sz="2100" dirty="0"/>
          </a:p>
        </p:txBody>
      </p:sp>
      <p:sp>
        <p:nvSpPr>
          <p:cNvPr id="9" name="Text 7"/>
          <p:cNvSpPr/>
          <p:nvPr/>
        </p:nvSpPr>
        <p:spPr>
          <a:xfrm>
            <a:off x="7571232" y="2898648"/>
            <a:ext cx="3474720" cy="777240"/>
          </a:xfrm>
          <a:prstGeom prst="rect">
            <a:avLst/>
          </a:prstGeom>
          <a:noFill/>
          <a:ln/>
        </p:spPr>
        <p:txBody>
          <a:bodyPr wrap="square" lIns="0" tIns="0" rIns="0" bIns="0" rtlCol="0" anchor="t"/>
          <a:lstStyle/>
          <a:p>
            <a:pPr indent="0" marL="0">
              <a:lnSpc>
                <a:spcPts val="1900"/>
              </a:lnSpc>
              <a:buNone/>
            </a:pPr>
            <a:r>
              <a:rPr lang="en-US" sz="1350" dirty="0">
                <a:solidFill>
                  <a:srgbClr val="3D5766"/>
                </a:solidFill>
                <a:latin typeface="Calibri" pitchFamily="34" charset="0"/>
                <a:ea typeface="Calibri" pitchFamily="34" charset="-122"/>
                <a:cs typeface="Calibri" pitchFamily="34" charset="-120"/>
              </a:rPr>
              <a:t>Small steps, put in front of real users, often enough to learn from.</a:t>
            </a:r>
            <a:endParaRPr lang="en-US" sz="1350" dirty="0"/>
          </a:p>
        </p:txBody>
      </p:sp>
      <p:sp>
        <p:nvSpPr>
          <p:cNvPr id="10" name="Shape 8"/>
          <p:cNvSpPr/>
          <p:nvPr/>
        </p:nvSpPr>
        <p:spPr>
          <a:xfrm>
            <a:off x="5138928" y="2651760"/>
            <a:ext cx="1975104" cy="0"/>
          </a:xfrm>
          <a:prstGeom prst="line">
            <a:avLst/>
          </a:prstGeom>
          <a:noFill/>
          <a:ln w="25400">
            <a:solidFill>
              <a:srgbClr val="C1512E"/>
            </a:solidFill>
            <a:prstDash val="solid"/>
            <a:tailEnd type="triangle"/>
          </a:ln>
        </p:spPr>
      </p:sp>
      <p:sp>
        <p:nvSpPr>
          <p:cNvPr id="11" name="Text 9"/>
          <p:cNvSpPr/>
          <p:nvPr/>
        </p:nvSpPr>
        <p:spPr>
          <a:xfrm>
            <a:off x="4983480" y="2194560"/>
            <a:ext cx="2286000" cy="457200"/>
          </a:xfrm>
          <a:prstGeom prst="rect">
            <a:avLst/>
          </a:prstGeom>
          <a:noFill/>
          <a:ln/>
        </p:spPr>
        <p:txBody>
          <a:bodyPr wrap="square" lIns="0" tIns="0" rIns="0" bIns="0" rtlCol="0" anchor="t"/>
          <a:lstStyle/>
          <a:p>
            <a:pPr algn="ctr" indent="0" marL="0">
              <a:lnSpc>
                <a:spcPts val="1300"/>
              </a:lnSpc>
              <a:buNone/>
            </a:pPr>
            <a:r>
              <a:rPr lang="en-US" sz="1050" i="1" dirty="0">
                <a:solidFill>
                  <a:srgbClr val="C1512E"/>
                </a:solidFill>
                <a:latin typeface="Calibri" pitchFamily="34" charset="0"/>
                <a:ea typeface="Calibri" pitchFamily="34" charset="-122"/>
                <a:cs typeface="Calibri" pitchFamily="34" charset="-120"/>
              </a:rPr>
              <a:t>makes iteration</a:t>
            </a:r>
            <a:endParaRPr lang="en-US" sz="1050" dirty="0"/>
          </a:p>
          <a:p>
            <a:pPr algn="ctr" indent="0" marL="0">
              <a:lnSpc>
                <a:spcPts val="1300"/>
              </a:lnSpc>
              <a:buNone/>
            </a:pPr>
            <a:r>
              <a:rPr lang="en-US" sz="1050" i="1" dirty="0">
                <a:solidFill>
                  <a:srgbClr val="C1512E"/>
                </a:solidFill>
                <a:latin typeface="Calibri" pitchFamily="34" charset="0"/>
                <a:ea typeface="Calibri" pitchFamily="34" charset="-122"/>
                <a:cs typeface="Calibri" pitchFamily="34" charset="-120"/>
              </a:rPr>
              <a:t>possible</a:t>
            </a:r>
            <a:endParaRPr lang="en-US" sz="1050" dirty="0"/>
          </a:p>
        </p:txBody>
      </p:sp>
      <p:sp>
        <p:nvSpPr>
          <p:cNvPr id="12" name="Shape 10"/>
          <p:cNvSpPr/>
          <p:nvPr/>
        </p:nvSpPr>
        <p:spPr>
          <a:xfrm>
            <a:off x="5138928" y="3383280"/>
            <a:ext cx="1975104" cy="0"/>
          </a:xfrm>
          <a:prstGeom prst="line">
            <a:avLst/>
          </a:prstGeom>
          <a:noFill/>
          <a:ln w="25400">
            <a:solidFill>
              <a:srgbClr val="2F7D6B"/>
            </a:solidFill>
            <a:prstDash val="solid"/>
            <a:headEnd type="triangle"/>
          </a:ln>
        </p:spPr>
      </p:sp>
      <p:sp>
        <p:nvSpPr>
          <p:cNvPr id="13" name="Text 11"/>
          <p:cNvSpPr/>
          <p:nvPr/>
        </p:nvSpPr>
        <p:spPr>
          <a:xfrm>
            <a:off x="4983480" y="3474720"/>
            <a:ext cx="2286000" cy="457200"/>
          </a:xfrm>
          <a:prstGeom prst="rect">
            <a:avLst/>
          </a:prstGeom>
          <a:noFill/>
          <a:ln/>
        </p:spPr>
        <p:txBody>
          <a:bodyPr wrap="square" lIns="0" tIns="0" rIns="0" bIns="0" rtlCol="0" anchor="t"/>
          <a:lstStyle/>
          <a:p>
            <a:pPr algn="ctr" indent="0" marL="0">
              <a:lnSpc>
                <a:spcPts val="1300"/>
              </a:lnSpc>
              <a:buNone/>
            </a:pPr>
            <a:r>
              <a:rPr lang="en-US" sz="1050" i="1" dirty="0">
                <a:solidFill>
                  <a:srgbClr val="2F7D6B"/>
                </a:solidFill>
                <a:latin typeface="Calibri" pitchFamily="34" charset="0"/>
                <a:ea typeface="Calibri" pitchFamily="34" charset="-122"/>
                <a:cs typeface="Calibri" pitchFamily="34" charset="-120"/>
              </a:rPr>
              <a:t>makes quality worth</a:t>
            </a:r>
            <a:endParaRPr lang="en-US" sz="1050" dirty="0"/>
          </a:p>
          <a:p>
            <a:pPr algn="ctr" indent="0" marL="0">
              <a:lnSpc>
                <a:spcPts val="1300"/>
              </a:lnSpc>
              <a:buNone/>
            </a:pPr>
            <a:r>
              <a:rPr lang="en-US" sz="1050" i="1" dirty="0">
                <a:solidFill>
                  <a:srgbClr val="2F7D6B"/>
                </a:solidFill>
                <a:latin typeface="Calibri" pitchFamily="34" charset="0"/>
                <a:ea typeface="Calibri" pitchFamily="34" charset="-122"/>
                <a:cs typeface="Calibri" pitchFamily="34" charset="-120"/>
              </a:rPr>
              <a:t>paying for</a:t>
            </a:r>
            <a:endParaRPr lang="en-US" sz="1050" dirty="0"/>
          </a:p>
        </p:txBody>
      </p:sp>
      <p:sp>
        <p:nvSpPr>
          <p:cNvPr id="14" name="Shape 12"/>
          <p:cNvSpPr/>
          <p:nvPr/>
        </p:nvSpPr>
        <p:spPr>
          <a:xfrm>
            <a:off x="822960" y="4526280"/>
            <a:ext cx="10545775" cy="1188720"/>
          </a:xfrm>
          <a:prstGeom prst="roundRect">
            <a:avLst>
              <a:gd name="adj" fmla="val 4615"/>
            </a:avLst>
          </a:prstGeom>
          <a:solidFill>
            <a:srgbClr val="F3E4DE"/>
          </a:solidFill>
          <a:ln/>
        </p:spPr>
      </p:sp>
      <p:sp>
        <p:nvSpPr>
          <p:cNvPr id="15" name="Text 13"/>
          <p:cNvSpPr/>
          <p:nvPr/>
        </p:nvSpPr>
        <p:spPr>
          <a:xfrm>
            <a:off x="1234440" y="4526280"/>
            <a:ext cx="9722815" cy="1188720"/>
          </a:xfrm>
          <a:prstGeom prst="rect">
            <a:avLst/>
          </a:prstGeom>
          <a:noFill/>
          <a:ln/>
        </p:spPr>
        <p:txBody>
          <a:bodyPr wrap="square" lIns="0" tIns="0" rIns="0" bIns="0" rtlCol="0" anchor="ctr"/>
          <a:lstStyle/>
          <a:p>
            <a:pPr indent="0" marL="0">
              <a:lnSpc>
                <a:spcPts val="2200"/>
              </a:lnSpc>
              <a:buNone/>
            </a:pPr>
            <a:r>
              <a:rPr lang="en-US" sz="1450" b="1" dirty="0">
                <a:solidFill>
                  <a:srgbClr val="17242B"/>
                </a:solidFill>
                <a:latin typeface="Calibri" pitchFamily="34" charset="0"/>
                <a:ea typeface="Calibri" pitchFamily="34" charset="-122"/>
                <a:cs typeface="Calibri" pitchFamily="34" charset="-120"/>
              </a:rPr>
              <a:t>Yes — this crosses the departmental line.</a:t>
            </a:r>
            <a:pPr indent="0" marL="0">
              <a:lnSpc>
                <a:spcPts val="2200"/>
              </a:lnSpc>
              <a:buNone/>
            </a:pPr>
            <a:r>
              <a:rPr lang="en-US" sz="1450" dirty="0">
                <a:solidFill>
                  <a:srgbClr val="3D5766"/>
                </a:solidFill>
                <a:latin typeface="Calibri" pitchFamily="34" charset="0"/>
                <a:ea typeface="Calibri" pitchFamily="34" charset="-122"/>
                <a:cs typeface="Calibri" pitchFamily="34" charset="-120"/>
              </a:rPr>
              <a:t>  Saying it now, before anyone has to notice it. It is not a claim on anyone's territory: the loop simply does not close if only one half of it moves.</a:t>
            </a:r>
            <a:endParaRPr lang="en-US" sz="1450" dirty="0"/>
          </a:p>
        </p:txBody>
      </p:sp>
      <p:sp>
        <p:nvSpPr>
          <p:cNvPr id="16" name="Shape 14"/>
          <p:cNvSpPr/>
          <p:nvPr/>
        </p:nvSpPr>
        <p:spPr>
          <a:xfrm>
            <a:off x="11259007" y="6291072"/>
            <a:ext cx="137160" cy="137160"/>
          </a:xfrm>
          <a:prstGeom prst="ellipse">
            <a:avLst/>
          </a:prstGeom>
          <a:ln w="12700">
            <a:solidFill>
              <a:srgbClr val="7C8D97"/>
            </a:solidFill>
            <a:prstDash val="solid"/>
          </a:ln>
        </p:spPr>
      </p:sp>
      <p:sp>
        <p:nvSpPr>
          <p:cNvPr id="17" name="Text 15"/>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7C8D97"/>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DELIVERY MECHANICS</a:t>
            </a:r>
            <a:endParaRPr lang="en-US" sz="1150" dirty="0"/>
          </a:p>
        </p:txBody>
      </p:sp>
      <p:sp>
        <p:nvSpPr>
          <p:cNvPr id="3" name="Text 1"/>
          <p:cNvSpPr/>
          <p:nvPr/>
        </p:nvSpPr>
        <p:spPr>
          <a:xfrm>
            <a:off x="822960" y="804672"/>
            <a:ext cx="10545775" cy="685800"/>
          </a:xfrm>
          <a:prstGeom prst="rect">
            <a:avLst/>
          </a:prstGeom>
          <a:noFill/>
          <a:ln/>
        </p:spPr>
        <p:txBody>
          <a:bodyPr wrap="square" lIns="0" tIns="0" rIns="0" bIns="0" rtlCol="0" anchor="t"/>
          <a:lstStyle/>
          <a:p>
            <a:pPr indent="0" marL="0">
              <a:buNone/>
            </a:pPr>
            <a:r>
              <a:rPr lang="en-US" sz="3400" b="1" dirty="0">
                <a:solidFill>
                  <a:srgbClr val="17242B"/>
                </a:solidFill>
                <a:latin typeface="Cambria" pitchFamily="34" charset="0"/>
                <a:ea typeface="Cambria" pitchFamily="34" charset="-122"/>
                <a:cs typeface="Cambria" pitchFamily="34" charset="-120"/>
              </a:rPr>
              <a:t>Capabilities, not a checklist of practices.</a:t>
            </a:r>
            <a:endParaRPr lang="en-US" sz="3400" dirty="0"/>
          </a:p>
        </p:txBody>
      </p:sp>
      <p:sp>
        <p:nvSpPr>
          <p:cNvPr id="4" name="Text 2"/>
          <p:cNvSpPr/>
          <p:nvPr/>
        </p:nvSpPr>
        <p:spPr>
          <a:xfrm>
            <a:off x="822960" y="1554480"/>
            <a:ext cx="10424160" cy="365760"/>
          </a:xfrm>
          <a:prstGeom prst="rect">
            <a:avLst/>
          </a:prstGeom>
          <a:noFill/>
          <a:ln/>
        </p:spPr>
        <p:txBody>
          <a:bodyPr wrap="square" lIns="0" tIns="0" rIns="0" bIns="0" rtlCol="0" anchor="t"/>
          <a:lstStyle/>
          <a:p>
            <a:pPr indent="0" marL="0">
              <a:buNone/>
            </a:pPr>
            <a:r>
              <a:rPr lang="en-US" sz="1450" dirty="0">
                <a:solidFill>
                  <a:srgbClr val="7C8D97"/>
                </a:solidFill>
                <a:latin typeface="Calibri" pitchFamily="34" charset="0"/>
                <a:ea typeface="Calibri" pitchFamily="34" charset="-122"/>
                <a:cs typeface="Calibri" pitchFamily="34" charset="-120"/>
              </a:rPr>
              <a:t>What DORA measures is a set of capabilities. How a team gets to each one is theirs to work out.</a:t>
            </a:r>
            <a:endParaRPr lang="en-US" sz="1450" dirty="0"/>
          </a:p>
        </p:txBody>
      </p:sp>
      <p:sp>
        <p:nvSpPr>
          <p:cNvPr id="5" name="Shape 3"/>
          <p:cNvSpPr/>
          <p:nvPr/>
        </p:nvSpPr>
        <p:spPr>
          <a:xfrm>
            <a:off x="822960" y="2121408"/>
            <a:ext cx="4983480" cy="1115568"/>
          </a:xfrm>
          <a:prstGeom prst="roundRect">
            <a:avLst>
              <a:gd name="adj" fmla="val 4918"/>
            </a:avLst>
          </a:prstGeom>
          <a:solidFill>
            <a:srgbClr val="EDF1F3"/>
          </a:solidFill>
          <a:ln/>
        </p:spPr>
      </p:sp>
      <p:sp>
        <p:nvSpPr>
          <p:cNvPr id="6" name="Shape 4"/>
          <p:cNvSpPr/>
          <p:nvPr/>
        </p:nvSpPr>
        <p:spPr>
          <a:xfrm>
            <a:off x="1133856" y="2432304"/>
            <a:ext cx="237744" cy="237744"/>
          </a:xfrm>
          <a:prstGeom prst="ellipse">
            <a:avLst/>
          </a:prstGeom>
          <a:ln w="19050">
            <a:solidFill>
              <a:srgbClr val="C1512E"/>
            </a:solidFill>
            <a:prstDash val="solid"/>
          </a:ln>
        </p:spPr>
      </p:sp>
      <p:sp>
        <p:nvSpPr>
          <p:cNvPr id="7" name="Text 5"/>
          <p:cNvSpPr/>
          <p:nvPr/>
        </p:nvSpPr>
        <p:spPr>
          <a:xfrm>
            <a:off x="1572768" y="2304288"/>
            <a:ext cx="3977640" cy="292608"/>
          </a:xfrm>
          <a:prstGeom prst="rect">
            <a:avLst/>
          </a:prstGeom>
          <a:noFill/>
          <a:ln/>
        </p:spPr>
        <p:txBody>
          <a:bodyPr wrap="square" lIns="0" tIns="0" rIns="0" bIns="0" rtlCol="0" anchor="t"/>
          <a:lstStyle/>
          <a:p>
            <a:pPr indent="0" marL="0">
              <a:buNone/>
            </a:pPr>
            <a:r>
              <a:rPr lang="en-US" sz="1450" b="1" dirty="0">
                <a:solidFill>
                  <a:srgbClr val="17242B"/>
                </a:solidFill>
                <a:latin typeface="Calibri" pitchFamily="34" charset="0"/>
                <a:ea typeface="Calibri" pitchFamily="34" charset="-122"/>
                <a:cs typeface="Calibri" pitchFamily="34" charset="-120"/>
              </a:rPr>
              <a:t>Version control and CI</a:t>
            </a:r>
            <a:endParaRPr lang="en-US" sz="1450" dirty="0"/>
          </a:p>
        </p:txBody>
      </p:sp>
      <p:sp>
        <p:nvSpPr>
          <p:cNvPr id="8" name="Text 6"/>
          <p:cNvSpPr/>
          <p:nvPr/>
        </p:nvSpPr>
        <p:spPr>
          <a:xfrm>
            <a:off x="1572768" y="2633472"/>
            <a:ext cx="3977640" cy="502920"/>
          </a:xfrm>
          <a:prstGeom prst="rect">
            <a:avLst/>
          </a:prstGeom>
          <a:noFill/>
          <a:ln/>
        </p:spPr>
        <p:txBody>
          <a:bodyPr wrap="square" lIns="0" tIns="0" rIns="0" bIns="0" rtlCol="0" anchor="t"/>
          <a:lstStyle/>
          <a:p>
            <a:pPr indent="0" marL="0">
              <a:lnSpc>
                <a:spcPts val="1600"/>
              </a:lnSpc>
              <a:buNone/>
            </a:pPr>
            <a:r>
              <a:rPr lang="en-US" sz="1250" dirty="0">
                <a:solidFill>
                  <a:srgbClr val="3D5766"/>
                </a:solidFill>
                <a:latin typeface="Calibri" pitchFamily="34" charset="0"/>
                <a:ea typeface="Calibri" pitchFamily="34" charset="-122"/>
                <a:cs typeface="Calibri" pitchFamily="34" charset="-120"/>
              </a:rPr>
              <a:t>On everything — code, configuration, infrastructure.</a:t>
            </a:r>
            <a:endParaRPr lang="en-US" sz="1250" dirty="0"/>
          </a:p>
        </p:txBody>
      </p:sp>
      <p:sp>
        <p:nvSpPr>
          <p:cNvPr id="9" name="Shape 7"/>
          <p:cNvSpPr/>
          <p:nvPr/>
        </p:nvSpPr>
        <p:spPr>
          <a:xfrm>
            <a:off x="6355080" y="2121408"/>
            <a:ext cx="4983480" cy="1115568"/>
          </a:xfrm>
          <a:prstGeom prst="roundRect">
            <a:avLst>
              <a:gd name="adj" fmla="val 4918"/>
            </a:avLst>
          </a:prstGeom>
          <a:solidFill>
            <a:srgbClr val="EDF1F3"/>
          </a:solidFill>
          <a:ln/>
        </p:spPr>
      </p:sp>
      <p:sp>
        <p:nvSpPr>
          <p:cNvPr id="10" name="Shape 8"/>
          <p:cNvSpPr/>
          <p:nvPr/>
        </p:nvSpPr>
        <p:spPr>
          <a:xfrm>
            <a:off x="6665976" y="2432304"/>
            <a:ext cx="237744" cy="237744"/>
          </a:xfrm>
          <a:prstGeom prst="ellipse">
            <a:avLst/>
          </a:prstGeom>
          <a:ln w="19050">
            <a:solidFill>
              <a:srgbClr val="C1512E"/>
            </a:solidFill>
            <a:prstDash val="solid"/>
          </a:ln>
        </p:spPr>
      </p:sp>
      <p:sp>
        <p:nvSpPr>
          <p:cNvPr id="11" name="Text 9"/>
          <p:cNvSpPr/>
          <p:nvPr/>
        </p:nvSpPr>
        <p:spPr>
          <a:xfrm>
            <a:off x="7104888" y="2304288"/>
            <a:ext cx="3977640" cy="292608"/>
          </a:xfrm>
          <a:prstGeom prst="rect">
            <a:avLst/>
          </a:prstGeom>
          <a:noFill/>
          <a:ln/>
        </p:spPr>
        <p:txBody>
          <a:bodyPr wrap="square" lIns="0" tIns="0" rIns="0" bIns="0" rtlCol="0" anchor="t"/>
          <a:lstStyle/>
          <a:p>
            <a:pPr indent="0" marL="0">
              <a:buNone/>
            </a:pPr>
            <a:r>
              <a:rPr lang="en-US" sz="1450" b="1" dirty="0">
                <a:solidFill>
                  <a:srgbClr val="17242B"/>
                </a:solidFill>
                <a:latin typeface="Calibri" pitchFamily="34" charset="0"/>
                <a:ea typeface="Calibri" pitchFamily="34" charset="-122"/>
                <a:cs typeface="Calibri" pitchFamily="34" charset="-120"/>
              </a:rPr>
              <a:t>Automated testing you trust</a:t>
            </a:r>
            <a:endParaRPr lang="en-US" sz="1450" dirty="0"/>
          </a:p>
        </p:txBody>
      </p:sp>
      <p:sp>
        <p:nvSpPr>
          <p:cNvPr id="12" name="Text 10"/>
          <p:cNvSpPr/>
          <p:nvPr/>
        </p:nvSpPr>
        <p:spPr>
          <a:xfrm>
            <a:off x="7104888" y="2633472"/>
            <a:ext cx="3977640" cy="502920"/>
          </a:xfrm>
          <a:prstGeom prst="rect">
            <a:avLst/>
          </a:prstGeom>
          <a:noFill/>
          <a:ln/>
        </p:spPr>
        <p:txBody>
          <a:bodyPr wrap="square" lIns="0" tIns="0" rIns="0" bIns="0" rtlCol="0" anchor="t"/>
          <a:lstStyle/>
          <a:p>
            <a:pPr indent="0" marL="0">
              <a:lnSpc>
                <a:spcPts val="1600"/>
              </a:lnSpc>
              <a:buNone/>
            </a:pPr>
            <a:r>
              <a:rPr lang="en-US" sz="1250" dirty="0">
                <a:solidFill>
                  <a:srgbClr val="3D5766"/>
                </a:solidFill>
                <a:latin typeface="Calibri" pitchFamily="34" charset="0"/>
                <a:ea typeface="Calibri" pitchFamily="34" charset="-122"/>
                <a:cs typeface="Calibri" pitchFamily="34" charset="-120"/>
              </a:rPr>
              <a:t>Trusted enough that a green build is a decision, not a suggestion.</a:t>
            </a:r>
            <a:endParaRPr lang="en-US" sz="1250" dirty="0"/>
          </a:p>
        </p:txBody>
      </p:sp>
      <p:sp>
        <p:nvSpPr>
          <p:cNvPr id="13" name="Shape 11"/>
          <p:cNvSpPr/>
          <p:nvPr/>
        </p:nvSpPr>
        <p:spPr>
          <a:xfrm>
            <a:off x="822960" y="3493008"/>
            <a:ext cx="4983480" cy="1115568"/>
          </a:xfrm>
          <a:prstGeom prst="roundRect">
            <a:avLst>
              <a:gd name="adj" fmla="val 4918"/>
            </a:avLst>
          </a:prstGeom>
          <a:solidFill>
            <a:srgbClr val="EDF1F3"/>
          </a:solidFill>
          <a:ln/>
        </p:spPr>
      </p:sp>
      <p:sp>
        <p:nvSpPr>
          <p:cNvPr id="14" name="Shape 12"/>
          <p:cNvSpPr/>
          <p:nvPr/>
        </p:nvSpPr>
        <p:spPr>
          <a:xfrm>
            <a:off x="1133856" y="3803904"/>
            <a:ext cx="237744" cy="237744"/>
          </a:xfrm>
          <a:prstGeom prst="ellipse">
            <a:avLst/>
          </a:prstGeom>
          <a:ln w="19050">
            <a:solidFill>
              <a:srgbClr val="C1512E"/>
            </a:solidFill>
            <a:prstDash val="solid"/>
          </a:ln>
        </p:spPr>
      </p:sp>
      <p:sp>
        <p:nvSpPr>
          <p:cNvPr id="15" name="Text 13"/>
          <p:cNvSpPr/>
          <p:nvPr/>
        </p:nvSpPr>
        <p:spPr>
          <a:xfrm>
            <a:off x="1572768" y="3675888"/>
            <a:ext cx="3977640" cy="292608"/>
          </a:xfrm>
          <a:prstGeom prst="rect">
            <a:avLst/>
          </a:prstGeom>
          <a:noFill/>
          <a:ln/>
        </p:spPr>
        <p:txBody>
          <a:bodyPr wrap="square" lIns="0" tIns="0" rIns="0" bIns="0" rtlCol="0" anchor="t"/>
          <a:lstStyle/>
          <a:p>
            <a:pPr indent="0" marL="0">
              <a:buNone/>
            </a:pPr>
            <a:r>
              <a:rPr lang="en-US" sz="1450" b="1" dirty="0">
                <a:solidFill>
                  <a:srgbClr val="17242B"/>
                </a:solidFill>
                <a:latin typeface="Calibri" pitchFamily="34" charset="0"/>
                <a:ea typeface="Calibri" pitchFamily="34" charset="-122"/>
                <a:cs typeface="Calibri" pitchFamily="34" charset="-120"/>
              </a:rPr>
              <a:t>Loosely coupled architecture</a:t>
            </a:r>
            <a:endParaRPr lang="en-US" sz="1450" dirty="0"/>
          </a:p>
        </p:txBody>
      </p:sp>
      <p:sp>
        <p:nvSpPr>
          <p:cNvPr id="16" name="Text 14"/>
          <p:cNvSpPr/>
          <p:nvPr/>
        </p:nvSpPr>
        <p:spPr>
          <a:xfrm>
            <a:off x="1572768" y="4005072"/>
            <a:ext cx="3977640" cy="502920"/>
          </a:xfrm>
          <a:prstGeom prst="rect">
            <a:avLst/>
          </a:prstGeom>
          <a:noFill/>
          <a:ln/>
        </p:spPr>
        <p:txBody>
          <a:bodyPr wrap="square" lIns="0" tIns="0" rIns="0" bIns="0" rtlCol="0" anchor="t"/>
          <a:lstStyle/>
          <a:p>
            <a:pPr indent="0" marL="0">
              <a:lnSpc>
                <a:spcPts val="1600"/>
              </a:lnSpc>
              <a:buNone/>
            </a:pPr>
            <a:r>
              <a:rPr lang="en-US" sz="1250" dirty="0">
                <a:solidFill>
                  <a:srgbClr val="3D5766"/>
                </a:solidFill>
                <a:latin typeface="Calibri" pitchFamily="34" charset="0"/>
                <a:ea typeface="Calibri" pitchFamily="34" charset="-122"/>
                <a:cs typeface="Calibri" pitchFamily="34" charset="-120"/>
              </a:rPr>
              <a:t>Teams change and deploy their part without a queue.</a:t>
            </a:r>
            <a:endParaRPr lang="en-US" sz="1250" dirty="0"/>
          </a:p>
        </p:txBody>
      </p:sp>
      <p:sp>
        <p:nvSpPr>
          <p:cNvPr id="17" name="Shape 15"/>
          <p:cNvSpPr/>
          <p:nvPr/>
        </p:nvSpPr>
        <p:spPr>
          <a:xfrm>
            <a:off x="6355080" y="3493008"/>
            <a:ext cx="4983480" cy="1115568"/>
          </a:xfrm>
          <a:prstGeom prst="roundRect">
            <a:avLst>
              <a:gd name="adj" fmla="val 4918"/>
            </a:avLst>
          </a:prstGeom>
          <a:solidFill>
            <a:srgbClr val="EDF1F3"/>
          </a:solidFill>
          <a:ln/>
        </p:spPr>
      </p:sp>
      <p:sp>
        <p:nvSpPr>
          <p:cNvPr id="18" name="Shape 16"/>
          <p:cNvSpPr/>
          <p:nvPr/>
        </p:nvSpPr>
        <p:spPr>
          <a:xfrm>
            <a:off x="6665976" y="3803904"/>
            <a:ext cx="237744" cy="237744"/>
          </a:xfrm>
          <a:prstGeom prst="ellipse">
            <a:avLst/>
          </a:prstGeom>
          <a:ln w="19050">
            <a:solidFill>
              <a:srgbClr val="C1512E"/>
            </a:solidFill>
            <a:prstDash val="solid"/>
          </a:ln>
        </p:spPr>
      </p:sp>
      <p:sp>
        <p:nvSpPr>
          <p:cNvPr id="19" name="Text 17"/>
          <p:cNvSpPr/>
          <p:nvPr/>
        </p:nvSpPr>
        <p:spPr>
          <a:xfrm>
            <a:off x="7104888" y="3675888"/>
            <a:ext cx="3977640" cy="292608"/>
          </a:xfrm>
          <a:prstGeom prst="rect">
            <a:avLst/>
          </a:prstGeom>
          <a:noFill/>
          <a:ln/>
        </p:spPr>
        <p:txBody>
          <a:bodyPr wrap="square" lIns="0" tIns="0" rIns="0" bIns="0" rtlCol="0" anchor="t"/>
          <a:lstStyle/>
          <a:p>
            <a:pPr indent="0" marL="0">
              <a:buNone/>
            </a:pPr>
            <a:r>
              <a:rPr lang="en-US" sz="1450" b="1" dirty="0">
                <a:solidFill>
                  <a:srgbClr val="17242B"/>
                </a:solidFill>
                <a:latin typeface="Calibri" pitchFamily="34" charset="0"/>
                <a:ea typeface="Calibri" pitchFamily="34" charset="-122"/>
                <a:cs typeface="Calibri" pitchFamily="34" charset="-120"/>
              </a:rPr>
              <a:t>Small batches, deployed continuously</a:t>
            </a:r>
            <a:endParaRPr lang="en-US" sz="1450" dirty="0"/>
          </a:p>
        </p:txBody>
      </p:sp>
      <p:sp>
        <p:nvSpPr>
          <p:cNvPr id="20" name="Text 18"/>
          <p:cNvSpPr/>
          <p:nvPr/>
        </p:nvSpPr>
        <p:spPr>
          <a:xfrm>
            <a:off x="7104888" y="4005072"/>
            <a:ext cx="3977640" cy="502920"/>
          </a:xfrm>
          <a:prstGeom prst="rect">
            <a:avLst/>
          </a:prstGeom>
          <a:noFill/>
          <a:ln/>
        </p:spPr>
        <p:txBody>
          <a:bodyPr wrap="square" lIns="0" tIns="0" rIns="0" bIns="0" rtlCol="0" anchor="t"/>
          <a:lstStyle/>
          <a:p>
            <a:pPr indent="0" marL="0">
              <a:lnSpc>
                <a:spcPts val="1600"/>
              </a:lnSpc>
              <a:buNone/>
            </a:pPr>
            <a:r>
              <a:rPr lang="en-US" sz="1250" dirty="0">
                <a:solidFill>
                  <a:srgbClr val="3D5766"/>
                </a:solidFill>
                <a:latin typeface="Calibri" pitchFamily="34" charset="0"/>
                <a:ea typeface="Calibri" pitchFamily="34" charset="-122"/>
                <a:cs typeface="Calibri" pitchFamily="34" charset="-120"/>
              </a:rPr>
              <a:t>Smaller change, smaller blast radius, faster answer.</a:t>
            </a:r>
            <a:endParaRPr lang="en-US" sz="1250" dirty="0"/>
          </a:p>
        </p:txBody>
      </p:sp>
      <p:sp>
        <p:nvSpPr>
          <p:cNvPr id="21" name="Shape 19"/>
          <p:cNvSpPr/>
          <p:nvPr/>
        </p:nvSpPr>
        <p:spPr>
          <a:xfrm>
            <a:off x="822960" y="4864608"/>
            <a:ext cx="10545775" cy="1170432"/>
          </a:xfrm>
          <a:prstGeom prst="roundRect">
            <a:avLst>
              <a:gd name="adj" fmla="val 4688"/>
            </a:avLst>
          </a:prstGeom>
          <a:solidFill>
            <a:srgbClr val="FFFFFF"/>
          </a:solidFill>
          <a:ln w="15875">
            <a:solidFill>
              <a:srgbClr val="C1512E"/>
            </a:solidFill>
            <a:prstDash val="dash"/>
          </a:ln>
        </p:spPr>
      </p:sp>
      <p:sp>
        <p:nvSpPr>
          <p:cNvPr id="22" name="Text 20"/>
          <p:cNvSpPr/>
          <p:nvPr/>
        </p:nvSpPr>
        <p:spPr>
          <a:xfrm>
            <a:off x="1188720" y="5074920"/>
            <a:ext cx="9814255" cy="777240"/>
          </a:xfrm>
          <a:prstGeom prst="rect">
            <a:avLst/>
          </a:prstGeom>
          <a:noFill/>
          <a:ln/>
        </p:spPr>
        <p:txBody>
          <a:bodyPr wrap="square" lIns="0" tIns="0" rIns="0" bIns="0" rtlCol="0" anchor="t"/>
          <a:lstStyle/>
          <a:p>
            <a:pPr indent="0" marL="0">
              <a:lnSpc>
                <a:spcPts val="2000"/>
              </a:lnSpc>
              <a:buNone/>
            </a:pPr>
            <a:r>
              <a:rPr lang="en-US" sz="1350" b="1" dirty="0">
                <a:solidFill>
                  <a:srgbClr val="C1512E"/>
                </a:solidFill>
                <a:latin typeface="Calibri" pitchFamily="34" charset="0"/>
                <a:ea typeface="Calibri" pitchFamily="34" charset="-122"/>
                <a:cs typeface="Calibri" pitchFamily="34" charset="-120"/>
              </a:rPr>
              <a:t>The honest caveat.  </a:t>
            </a:r>
            <a:pPr indent="0" marL="0">
              <a:lnSpc>
                <a:spcPts val="2000"/>
              </a:lnSpc>
              <a:buNone/>
            </a:pPr>
            <a:r>
              <a:rPr lang="en-US" sz="1350" dirty="0">
                <a:solidFill>
                  <a:srgbClr val="3D5766"/>
                </a:solidFill>
                <a:latin typeface="Calibri" pitchFamily="34" charset="0"/>
                <a:ea typeface="Calibri" pitchFamily="34" charset="-122"/>
                <a:cs typeface="Calibri" pitchFamily="34" charset="-120"/>
              </a:rPr>
              <a:t>Production is a long way from us. Until it isn't, we use proxy signals — deployment to QA and demo environments — and we treat closing the distance to real production feedback as part of the work, not a precondition for starting.</a:t>
            </a:r>
            <a:endParaRPr lang="en-US" sz="1350" dirty="0"/>
          </a:p>
        </p:txBody>
      </p:sp>
      <p:sp>
        <p:nvSpPr>
          <p:cNvPr id="23" name="Shape 21"/>
          <p:cNvSpPr/>
          <p:nvPr/>
        </p:nvSpPr>
        <p:spPr>
          <a:xfrm>
            <a:off x="11259007" y="6291072"/>
            <a:ext cx="137160" cy="137160"/>
          </a:xfrm>
          <a:prstGeom prst="ellipse">
            <a:avLst/>
          </a:prstGeom>
          <a:ln w="12700">
            <a:solidFill>
              <a:srgbClr val="7C8D97"/>
            </a:solidFill>
            <a:prstDash val="solid"/>
          </a:ln>
        </p:spPr>
      </p:sp>
      <p:sp>
        <p:nvSpPr>
          <p:cNvPr id="24" name="Text 22"/>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7C8D97"/>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THE PRODUCT SIDE</a:t>
            </a:r>
            <a:endParaRPr lang="en-US" sz="1150" dirty="0"/>
          </a:p>
        </p:txBody>
      </p:sp>
      <p:sp>
        <p:nvSpPr>
          <p:cNvPr id="3" name="Text 1"/>
          <p:cNvSpPr/>
          <p:nvPr/>
        </p:nvSpPr>
        <p:spPr>
          <a:xfrm>
            <a:off x="822960" y="804672"/>
            <a:ext cx="10545775" cy="685800"/>
          </a:xfrm>
          <a:prstGeom prst="rect">
            <a:avLst/>
          </a:prstGeom>
          <a:noFill/>
          <a:ln/>
        </p:spPr>
        <p:txBody>
          <a:bodyPr wrap="square" lIns="0" tIns="0" rIns="0" bIns="0" rtlCol="0" anchor="t"/>
          <a:lstStyle/>
          <a:p>
            <a:pPr indent="0" marL="0">
              <a:buNone/>
            </a:pPr>
            <a:r>
              <a:rPr lang="en-US" sz="3400" b="1" dirty="0">
                <a:solidFill>
                  <a:srgbClr val="17242B"/>
                </a:solidFill>
                <a:latin typeface="Cambria" pitchFamily="34" charset="0"/>
                <a:ea typeface="Cambria" pitchFamily="34" charset="-122"/>
                <a:cs typeface="Cambria" pitchFamily="34" charset="-120"/>
              </a:rPr>
              <a:t>Release in slices, to widening groups.</a:t>
            </a:r>
            <a:endParaRPr lang="en-US" sz="3400" dirty="0"/>
          </a:p>
        </p:txBody>
      </p:sp>
      <p:sp>
        <p:nvSpPr>
          <p:cNvPr id="4" name="Shape 2"/>
          <p:cNvSpPr/>
          <p:nvPr/>
        </p:nvSpPr>
        <p:spPr>
          <a:xfrm>
            <a:off x="822960" y="1874520"/>
            <a:ext cx="3657600" cy="530352"/>
          </a:xfrm>
          <a:prstGeom prst="rect">
            <a:avLst/>
          </a:prstGeom>
          <a:solidFill>
            <a:srgbClr val="E1E7EA"/>
          </a:solidFill>
          <a:ln/>
        </p:spPr>
      </p:sp>
      <p:sp>
        <p:nvSpPr>
          <p:cNvPr id="5" name="Text 3"/>
          <p:cNvSpPr/>
          <p:nvPr/>
        </p:nvSpPr>
        <p:spPr>
          <a:xfrm>
            <a:off x="1051560" y="1874520"/>
            <a:ext cx="1097280" cy="530352"/>
          </a:xfrm>
          <a:prstGeom prst="rect">
            <a:avLst/>
          </a:prstGeom>
          <a:noFill/>
          <a:ln/>
        </p:spPr>
        <p:txBody>
          <a:bodyPr wrap="square" lIns="0" tIns="0" rIns="0" bIns="0" rtlCol="0" anchor="ctr"/>
          <a:lstStyle/>
          <a:p>
            <a:pPr indent="0" marL="0">
              <a:buNone/>
            </a:pPr>
            <a:r>
              <a:rPr lang="en-US" sz="1300" b="1" dirty="0">
                <a:solidFill>
                  <a:srgbClr val="17242B"/>
                </a:solidFill>
                <a:latin typeface="Calibri" pitchFamily="34" charset="0"/>
                <a:ea typeface="Calibri" pitchFamily="34" charset="-122"/>
                <a:cs typeface="Calibri" pitchFamily="34" charset="-120"/>
              </a:rPr>
              <a:t>Slice 1</a:t>
            </a:r>
            <a:endParaRPr lang="en-US" sz="1300" dirty="0"/>
          </a:p>
        </p:txBody>
      </p:sp>
      <p:sp>
        <p:nvSpPr>
          <p:cNvPr id="6" name="Text 4"/>
          <p:cNvSpPr/>
          <p:nvPr/>
        </p:nvSpPr>
        <p:spPr>
          <a:xfrm>
            <a:off x="4773168" y="1874520"/>
            <a:ext cx="3566160" cy="530352"/>
          </a:xfrm>
          <a:prstGeom prst="rect">
            <a:avLst/>
          </a:prstGeom>
          <a:noFill/>
          <a:ln/>
        </p:spPr>
        <p:txBody>
          <a:bodyPr wrap="square" lIns="0" tIns="0" rIns="0" bIns="0" rtlCol="0" anchor="ctr"/>
          <a:lstStyle/>
          <a:p>
            <a:pPr indent="0" marL="0">
              <a:buNone/>
            </a:pPr>
            <a:r>
              <a:rPr lang="en-US" sz="1250" dirty="0">
                <a:solidFill>
                  <a:srgbClr val="3D5766"/>
                </a:solidFill>
                <a:latin typeface="Calibri" pitchFamily="34" charset="0"/>
                <a:ea typeface="Calibri" pitchFamily="34" charset="-122"/>
                <a:cs typeface="Calibri" pitchFamily="34" charset="-120"/>
              </a:rPr>
              <a:t>the team, testers, a handful of willing users</a:t>
            </a:r>
            <a:endParaRPr lang="en-US" sz="1250" dirty="0"/>
          </a:p>
        </p:txBody>
      </p:sp>
      <p:sp>
        <p:nvSpPr>
          <p:cNvPr id="7" name="Shape 5"/>
          <p:cNvSpPr/>
          <p:nvPr/>
        </p:nvSpPr>
        <p:spPr>
          <a:xfrm>
            <a:off x="822960" y="2624328"/>
            <a:ext cx="5943600" cy="530352"/>
          </a:xfrm>
          <a:prstGeom prst="rect">
            <a:avLst/>
          </a:prstGeom>
          <a:solidFill>
            <a:srgbClr val="E1E7EA"/>
          </a:solidFill>
          <a:ln/>
        </p:spPr>
      </p:sp>
      <p:sp>
        <p:nvSpPr>
          <p:cNvPr id="8" name="Text 6"/>
          <p:cNvSpPr/>
          <p:nvPr/>
        </p:nvSpPr>
        <p:spPr>
          <a:xfrm>
            <a:off x="1051560" y="2624328"/>
            <a:ext cx="1097280" cy="530352"/>
          </a:xfrm>
          <a:prstGeom prst="rect">
            <a:avLst/>
          </a:prstGeom>
          <a:noFill/>
          <a:ln/>
        </p:spPr>
        <p:txBody>
          <a:bodyPr wrap="square" lIns="0" tIns="0" rIns="0" bIns="0" rtlCol="0" anchor="ctr"/>
          <a:lstStyle/>
          <a:p>
            <a:pPr indent="0" marL="0">
              <a:buNone/>
            </a:pPr>
            <a:r>
              <a:rPr lang="en-US" sz="1300" b="1" dirty="0">
                <a:solidFill>
                  <a:srgbClr val="17242B"/>
                </a:solidFill>
                <a:latin typeface="Calibri" pitchFamily="34" charset="0"/>
                <a:ea typeface="Calibri" pitchFamily="34" charset="-122"/>
                <a:cs typeface="Calibri" pitchFamily="34" charset="-120"/>
              </a:rPr>
              <a:t>Slice 2</a:t>
            </a:r>
            <a:endParaRPr lang="en-US" sz="1300" dirty="0"/>
          </a:p>
        </p:txBody>
      </p:sp>
      <p:sp>
        <p:nvSpPr>
          <p:cNvPr id="9" name="Text 7"/>
          <p:cNvSpPr/>
          <p:nvPr/>
        </p:nvSpPr>
        <p:spPr>
          <a:xfrm>
            <a:off x="7059168" y="2624328"/>
            <a:ext cx="3566160" cy="530352"/>
          </a:xfrm>
          <a:prstGeom prst="rect">
            <a:avLst/>
          </a:prstGeom>
          <a:noFill/>
          <a:ln/>
        </p:spPr>
        <p:txBody>
          <a:bodyPr wrap="square" lIns="0" tIns="0" rIns="0" bIns="0" rtlCol="0" anchor="ctr"/>
          <a:lstStyle/>
          <a:p>
            <a:pPr indent="0" marL="0">
              <a:buNone/>
            </a:pPr>
            <a:r>
              <a:rPr lang="en-US" sz="1250" dirty="0">
                <a:solidFill>
                  <a:srgbClr val="3D5766"/>
                </a:solidFill>
                <a:latin typeface="Calibri" pitchFamily="34" charset="0"/>
                <a:ea typeface="Calibri" pitchFamily="34" charset="-122"/>
                <a:cs typeface="Calibri" pitchFamily="34" charset="-120"/>
              </a:rPr>
              <a:t>one office, one user group, one region</a:t>
            </a:r>
            <a:endParaRPr lang="en-US" sz="1250" dirty="0"/>
          </a:p>
        </p:txBody>
      </p:sp>
      <p:sp>
        <p:nvSpPr>
          <p:cNvPr id="10" name="Shape 8"/>
          <p:cNvSpPr/>
          <p:nvPr/>
        </p:nvSpPr>
        <p:spPr>
          <a:xfrm>
            <a:off x="822960" y="3374136"/>
            <a:ext cx="8595360" cy="530352"/>
          </a:xfrm>
          <a:prstGeom prst="rect">
            <a:avLst/>
          </a:prstGeom>
          <a:solidFill>
            <a:srgbClr val="C1512E"/>
          </a:solidFill>
          <a:ln/>
        </p:spPr>
      </p:sp>
      <p:sp>
        <p:nvSpPr>
          <p:cNvPr id="11" name="Text 9"/>
          <p:cNvSpPr/>
          <p:nvPr/>
        </p:nvSpPr>
        <p:spPr>
          <a:xfrm>
            <a:off x="1051560" y="3374136"/>
            <a:ext cx="1097280" cy="530352"/>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Slice 3</a:t>
            </a:r>
            <a:endParaRPr lang="en-US" sz="1300" dirty="0"/>
          </a:p>
        </p:txBody>
      </p:sp>
      <p:sp>
        <p:nvSpPr>
          <p:cNvPr id="12" name="Text 10"/>
          <p:cNvSpPr/>
          <p:nvPr/>
        </p:nvSpPr>
        <p:spPr>
          <a:xfrm>
            <a:off x="9710928" y="3374136"/>
            <a:ext cx="1673352" cy="530352"/>
          </a:xfrm>
          <a:prstGeom prst="rect">
            <a:avLst/>
          </a:prstGeom>
          <a:noFill/>
          <a:ln/>
        </p:spPr>
        <p:txBody>
          <a:bodyPr wrap="square" lIns="0" tIns="0" rIns="0" bIns="0" rtlCol="0" anchor="ctr"/>
          <a:lstStyle/>
          <a:p>
            <a:pPr indent="0" marL="0">
              <a:buNone/>
            </a:pPr>
            <a:r>
              <a:rPr lang="en-US" sz="1250" dirty="0">
                <a:solidFill>
                  <a:srgbClr val="3D5766"/>
                </a:solidFill>
                <a:latin typeface="Calibri" pitchFamily="34" charset="0"/>
                <a:ea typeface="Calibri" pitchFamily="34" charset="-122"/>
                <a:cs typeface="Calibri" pitchFamily="34" charset="-120"/>
              </a:rPr>
              <a:t>everyone</a:t>
            </a:r>
            <a:endParaRPr lang="en-US" sz="1250" dirty="0"/>
          </a:p>
        </p:txBody>
      </p:sp>
      <p:sp>
        <p:nvSpPr>
          <p:cNvPr id="13" name="Shape 11"/>
          <p:cNvSpPr/>
          <p:nvPr/>
        </p:nvSpPr>
        <p:spPr>
          <a:xfrm>
            <a:off x="822960" y="4160520"/>
            <a:ext cx="8595360" cy="0"/>
          </a:xfrm>
          <a:prstGeom prst="line">
            <a:avLst/>
          </a:prstGeom>
          <a:noFill/>
          <a:ln w="15875">
            <a:solidFill>
              <a:srgbClr val="7C8D97"/>
            </a:solidFill>
            <a:prstDash val="solid"/>
            <a:tailEnd type="triangle"/>
          </a:ln>
        </p:spPr>
      </p:sp>
      <p:sp>
        <p:nvSpPr>
          <p:cNvPr id="14" name="Text 12"/>
          <p:cNvSpPr/>
          <p:nvPr/>
        </p:nvSpPr>
        <p:spPr>
          <a:xfrm>
            <a:off x="822960" y="4251960"/>
            <a:ext cx="8595360" cy="274320"/>
          </a:xfrm>
          <a:prstGeom prst="rect">
            <a:avLst/>
          </a:prstGeom>
          <a:noFill/>
          <a:ln/>
        </p:spPr>
        <p:txBody>
          <a:bodyPr wrap="square" lIns="0" tIns="0" rIns="0" bIns="0" rtlCol="0" anchor="t"/>
          <a:lstStyle/>
          <a:p>
            <a:pPr algn="r" indent="0" marL="0">
              <a:buNone/>
            </a:pPr>
            <a:r>
              <a:rPr lang="en-US" sz="1100" i="1" dirty="0">
                <a:solidFill>
                  <a:srgbClr val="7C8D97"/>
                </a:solidFill>
                <a:latin typeface="Calibri" pitchFamily="34" charset="0"/>
                <a:ea typeface="Calibri" pitchFamily="34" charset="-122"/>
                <a:cs typeface="Calibri" pitchFamily="34" charset="-120"/>
              </a:rPr>
              <a:t>a widening group of users</a:t>
            </a:r>
            <a:endParaRPr lang="en-US" sz="1100" dirty="0"/>
          </a:p>
        </p:txBody>
      </p:sp>
      <p:sp>
        <p:nvSpPr>
          <p:cNvPr id="15" name="Text 13"/>
          <p:cNvSpPr/>
          <p:nvPr/>
        </p:nvSpPr>
        <p:spPr>
          <a:xfrm>
            <a:off x="822960" y="4754880"/>
            <a:ext cx="5623560" cy="1371600"/>
          </a:xfrm>
          <a:prstGeom prst="rect">
            <a:avLst/>
          </a:prstGeom>
          <a:noFill/>
          <a:ln/>
        </p:spPr>
        <p:txBody>
          <a:bodyPr wrap="square" lIns="0" tIns="0" rIns="0" bIns="0" rtlCol="0" anchor="t"/>
          <a:lstStyle/>
          <a:p>
            <a:pPr indent="0" marL="0">
              <a:lnSpc>
                <a:spcPts val="2100"/>
              </a:lnSpc>
              <a:buNone/>
            </a:pPr>
            <a:r>
              <a:rPr lang="en-US" sz="1400" b="1" dirty="0">
                <a:solidFill>
                  <a:srgbClr val="17242B"/>
                </a:solidFill>
                <a:latin typeface="Calibri" pitchFamily="34" charset="0"/>
                <a:ea typeface="Calibri" pitchFamily="34" charset="-122"/>
                <a:cs typeface="Calibri" pitchFamily="34" charset="-120"/>
              </a:rPr>
              <a:t>Progressive delivery. </a:t>
            </a:r>
            <a:pPr indent="0" marL="0">
              <a:lnSpc>
                <a:spcPts val="2100"/>
              </a:lnSpc>
              <a:buNone/>
            </a:pPr>
            <a:r>
              <a:rPr lang="en-US" sz="1400" dirty="0">
                <a:solidFill>
                  <a:srgbClr val="3D5766"/>
                </a:solidFill>
                <a:latin typeface="Calibri" pitchFamily="34" charset="0"/>
                <a:ea typeface="Calibri" pitchFamily="34" charset="-122"/>
                <a:cs typeface="Calibri" pitchFamily="34" charset="-120"/>
              </a:rPr>
              <a:t>The unit of release stops being “the feature, finished” and becomes “the smallest slice that is genuinely useful to someone.” Each slice is a question we get an answer to.</a:t>
            </a:r>
            <a:endParaRPr lang="en-US" sz="1400" dirty="0"/>
          </a:p>
        </p:txBody>
      </p:sp>
      <p:sp>
        <p:nvSpPr>
          <p:cNvPr id="16" name="Shape 14"/>
          <p:cNvSpPr/>
          <p:nvPr/>
        </p:nvSpPr>
        <p:spPr>
          <a:xfrm>
            <a:off x="6720840" y="4663440"/>
            <a:ext cx="4645152" cy="1417320"/>
          </a:xfrm>
          <a:prstGeom prst="roundRect">
            <a:avLst>
              <a:gd name="adj" fmla="val 3871"/>
            </a:avLst>
          </a:prstGeom>
          <a:solidFill>
            <a:srgbClr val="EDF1F3"/>
          </a:solidFill>
          <a:ln/>
        </p:spPr>
      </p:sp>
      <p:sp>
        <p:nvSpPr>
          <p:cNvPr id="17" name="Shape 15"/>
          <p:cNvSpPr/>
          <p:nvPr/>
        </p:nvSpPr>
        <p:spPr>
          <a:xfrm>
            <a:off x="7022592" y="4956048"/>
            <a:ext cx="219456" cy="219456"/>
          </a:xfrm>
          <a:prstGeom prst="ellipse">
            <a:avLst/>
          </a:prstGeom>
          <a:ln w="19050">
            <a:solidFill>
              <a:srgbClr val="C1512E"/>
            </a:solidFill>
            <a:prstDash val="solid"/>
          </a:ln>
        </p:spPr>
      </p:sp>
      <p:sp>
        <p:nvSpPr>
          <p:cNvPr id="18" name="Text 16"/>
          <p:cNvSpPr/>
          <p:nvPr/>
        </p:nvSpPr>
        <p:spPr>
          <a:xfrm>
            <a:off x="7424928" y="4846320"/>
            <a:ext cx="3657600" cy="292608"/>
          </a:xfrm>
          <a:prstGeom prst="rect">
            <a:avLst/>
          </a:prstGeom>
          <a:noFill/>
          <a:ln/>
        </p:spPr>
        <p:txBody>
          <a:bodyPr wrap="square" lIns="0" tIns="0" rIns="0" bIns="0" rtlCol="0" anchor="t"/>
          <a:lstStyle/>
          <a:p>
            <a:pPr indent="0" marL="0">
              <a:buNone/>
            </a:pPr>
            <a:r>
              <a:rPr lang="en-US" sz="1450" b="1" dirty="0">
                <a:solidFill>
                  <a:srgbClr val="17242B"/>
                </a:solidFill>
                <a:latin typeface="Calibri" pitchFamily="34" charset="0"/>
                <a:ea typeface="Calibri" pitchFamily="34" charset="-122"/>
                <a:cs typeface="Calibri" pitchFamily="34" charset="-120"/>
              </a:rPr>
              <a:t>Prototype instead of specifying</a:t>
            </a:r>
            <a:endParaRPr lang="en-US" sz="1450" dirty="0"/>
          </a:p>
        </p:txBody>
      </p:sp>
      <p:sp>
        <p:nvSpPr>
          <p:cNvPr id="19" name="Text 17"/>
          <p:cNvSpPr/>
          <p:nvPr/>
        </p:nvSpPr>
        <p:spPr>
          <a:xfrm>
            <a:off x="7424928" y="5193792"/>
            <a:ext cx="3657600" cy="777240"/>
          </a:xfrm>
          <a:prstGeom prst="rect">
            <a:avLst/>
          </a:prstGeom>
          <a:noFill/>
          <a:ln/>
        </p:spPr>
        <p:txBody>
          <a:bodyPr wrap="square" lIns="0" tIns="0" rIns="0" bIns="0" rtlCol="0" anchor="t"/>
          <a:lstStyle/>
          <a:p>
            <a:pPr indent="0" marL="0">
              <a:lnSpc>
                <a:spcPts val="1600"/>
              </a:lnSpc>
              <a:buNone/>
            </a:pPr>
            <a:r>
              <a:rPr lang="en-US" sz="1200" dirty="0">
                <a:solidFill>
                  <a:srgbClr val="3D5766"/>
                </a:solidFill>
                <a:latin typeface="Calibri" pitchFamily="34" charset="0"/>
                <a:ea typeface="Calibri" pitchFamily="34" charset="-122"/>
                <a:cs typeface="Calibri" pitchFamily="34" charset="-120"/>
              </a:rPr>
              <a:t>A long requirements phase produces agreement about a document. A prototype produces agreement about a thing — in days, from the people who will use it.</a:t>
            </a:r>
            <a:endParaRPr lang="en-US" sz="1200" dirty="0"/>
          </a:p>
        </p:txBody>
      </p:sp>
      <p:sp>
        <p:nvSpPr>
          <p:cNvPr id="20" name="Shape 18"/>
          <p:cNvSpPr/>
          <p:nvPr/>
        </p:nvSpPr>
        <p:spPr>
          <a:xfrm>
            <a:off x="11259007" y="6291072"/>
            <a:ext cx="137160" cy="137160"/>
          </a:xfrm>
          <a:prstGeom prst="ellipse">
            <a:avLst/>
          </a:prstGeom>
          <a:ln w="12700">
            <a:solidFill>
              <a:srgbClr val="7C8D97"/>
            </a:solidFill>
            <a:prstDash val="solid"/>
          </a:ln>
        </p:spPr>
      </p:sp>
      <p:sp>
        <p:nvSpPr>
          <p:cNvPr id="21" name="Text 19"/>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7C8D97"/>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PRACTICES ARE EMPIRICAL TOO</a:t>
            </a:r>
            <a:endParaRPr lang="en-US" sz="1150" dirty="0"/>
          </a:p>
        </p:txBody>
      </p:sp>
      <p:sp>
        <p:nvSpPr>
          <p:cNvPr id="3" name="Text 1"/>
          <p:cNvSpPr/>
          <p:nvPr/>
        </p:nvSpPr>
        <p:spPr>
          <a:xfrm>
            <a:off x="822960" y="804672"/>
            <a:ext cx="10545775" cy="685800"/>
          </a:xfrm>
          <a:prstGeom prst="rect">
            <a:avLst/>
          </a:prstGeom>
          <a:noFill/>
          <a:ln/>
        </p:spPr>
        <p:txBody>
          <a:bodyPr wrap="square" lIns="0" tIns="0" rIns="0" bIns="0" rtlCol="0" anchor="t"/>
          <a:lstStyle/>
          <a:p>
            <a:pPr indent="0" marL="0">
              <a:buNone/>
            </a:pPr>
            <a:r>
              <a:rPr lang="en-US" sz="3400" b="1" dirty="0">
                <a:solidFill>
                  <a:srgbClr val="17242B"/>
                </a:solidFill>
                <a:latin typeface="Cambria" pitchFamily="34" charset="0"/>
                <a:ea typeface="Cambria" pitchFamily="34" charset="-122"/>
                <a:cs typeface="Cambria" pitchFamily="34" charset="-120"/>
              </a:rPr>
              <a:t>Alarms, not certificates.</a:t>
            </a:r>
            <a:endParaRPr lang="en-US" sz="3400" dirty="0"/>
          </a:p>
        </p:txBody>
      </p:sp>
      <p:sp>
        <p:nvSpPr>
          <p:cNvPr id="4" name="Text 2"/>
          <p:cNvSpPr/>
          <p:nvPr/>
        </p:nvSpPr>
        <p:spPr>
          <a:xfrm>
            <a:off x="822960" y="1517904"/>
            <a:ext cx="10424160" cy="566928"/>
          </a:xfrm>
          <a:prstGeom prst="rect">
            <a:avLst/>
          </a:prstGeom>
          <a:noFill/>
          <a:ln/>
        </p:spPr>
        <p:txBody>
          <a:bodyPr wrap="square" lIns="0" tIns="0" rIns="0" bIns="0" rtlCol="0" anchor="t"/>
          <a:lstStyle/>
          <a:p>
            <a:pPr indent="0" marL="0">
              <a:lnSpc>
                <a:spcPts val="1900"/>
              </a:lnSpc>
              <a:buNone/>
            </a:pPr>
            <a:r>
              <a:rPr lang="en-US" sz="1350" dirty="0">
                <a:solidFill>
                  <a:srgbClr val="7C8D97"/>
                </a:solidFill>
                <a:latin typeface="Calibri" pitchFamily="34" charset="0"/>
                <a:ea typeface="Calibri" pitchFamily="34" charset="-122"/>
                <a:cs typeface="Calibri" pitchFamily="34" charset="-120"/>
              </a:rPr>
              <a:t>Low test coverage tells us something is wrong. High test coverage tells us almost nothing. Above the floor, practices are candidates rather than commandments — picked by a team, tested against a measure declared upfront, published.</a:t>
            </a:r>
            <a:endParaRPr lang="en-US" sz="1350" dirty="0"/>
          </a:p>
        </p:txBody>
      </p:sp>
      <p:sp>
        <p:nvSpPr>
          <p:cNvPr id="5" name="Text 3"/>
          <p:cNvSpPr/>
          <p:nvPr/>
        </p:nvSpPr>
        <p:spPr>
          <a:xfrm>
            <a:off x="822960" y="2286000"/>
            <a:ext cx="3108960" cy="256032"/>
          </a:xfrm>
          <a:prstGeom prst="rect">
            <a:avLst/>
          </a:prstGeom>
          <a:noFill/>
          <a:ln/>
        </p:spPr>
        <p:txBody>
          <a:bodyPr wrap="square" lIns="0" tIns="0" rIns="0" bIns="0" rtlCol="0" anchor="t"/>
          <a:lstStyle/>
          <a:p>
            <a:pPr indent="0" marL="0">
              <a:buNone/>
            </a:pPr>
            <a:r>
              <a:rPr lang="en-US" sz="1250" b="1" spc="180" kern="0" dirty="0">
                <a:solidFill>
                  <a:srgbClr val="C1512E"/>
                </a:solidFill>
                <a:latin typeface="Calibri" pitchFamily="34" charset="0"/>
                <a:ea typeface="Calibri" pitchFamily="34" charset="-122"/>
                <a:cs typeface="Calibri" pitchFamily="34" charset="-120"/>
              </a:rPr>
              <a:t>MANDATORY</a:t>
            </a:r>
            <a:endParaRPr lang="en-US" sz="1250" dirty="0"/>
          </a:p>
        </p:txBody>
      </p:sp>
      <p:sp>
        <p:nvSpPr>
          <p:cNvPr id="6" name="Text 4"/>
          <p:cNvSpPr/>
          <p:nvPr/>
        </p:nvSpPr>
        <p:spPr>
          <a:xfrm>
            <a:off x="822960" y="2615184"/>
            <a:ext cx="3108960" cy="402336"/>
          </a:xfrm>
          <a:prstGeom prst="rect">
            <a:avLst/>
          </a:prstGeom>
          <a:noFill/>
          <a:ln/>
        </p:spPr>
        <p:txBody>
          <a:bodyPr wrap="square" lIns="0" tIns="0" rIns="0" bIns="0" rtlCol="0" anchor="t"/>
          <a:lstStyle/>
          <a:p>
            <a:pPr indent="0" marL="0">
              <a:lnSpc>
                <a:spcPts val="1200"/>
              </a:lnSpc>
              <a:buNone/>
            </a:pPr>
            <a:r>
              <a:rPr lang="en-US" sz="950" i="1" dirty="0">
                <a:solidFill>
                  <a:srgbClr val="7C8D97"/>
                </a:solidFill>
                <a:latin typeface="Calibri" pitchFamily="34" charset="0"/>
                <a:ea typeface="Calibri" pitchFamily="34" charset="-122"/>
                <a:cs typeface="Calibri" pitchFamily="34" charset="-120"/>
              </a:rPr>
              <a:t>Machine-checkable — a tool verifies it,</a:t>
            </a:r>
            <a:endParaRPr lang="en-US" sz="950" dirty="0"/>
          </a:p>
          <a:p>
            <a:pPr indent="0" marL="0">
              <a:lnSpc>
                <a:spcPts val="1200"/>
              </a:lnSpc>
              <a:buNone/>
            </a:pPr>
            <a:r>
              <a:rPr lang="en-US" sz="950" i="1" dirty="0">
                <a:solidFill>
                  <a:srgbClr val="7C8D97"/>
                </a:solidFill>
                <a:latin typeface="Calibri" pitchFamily="34" charset="0"/>
                <a:ea typeface="Calibri" pitchFamily="34" charset="-122"/>
                <a:cs typeface="Calibri" pitchFamily="34" charset="-120"/>
              </a:rPr>
              <a:t>so enforcing it costs nothing</a:t>
            </a:r>
            <a:endParaRPr lang="en-US" sz="950" dirty="0"/>
          </a:p>
        </p:txBody>
      </p:sp>
      <p:sp>
        <p:nvSpPr>
          <p:cNvPr id="7" name="Text 5"/>
          <p:cNvSpPr/>
          <p:nvPr/>
        </p:nvSpPr>
        <p:spPr>
          <a:xfrm>
            <a:off x="841248" y="3072384"/>
            <a:ext cx="3090672" cy="1463040"/>
          </a:xfrm>
          <a:prstGeom prst="rect">
            <a:avLst/>
          </a:prstGeom>
          <a:noFill/>
          <a:ln/>
        </p:spPr>
        <p:txBody>
          <a:bodyPr wrap="square" lIns="0" tIns="0" rIns="0" bIns="0" rtlCol="0" anchor="t"/>
          <a:lstStyle/>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source control</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continuous integration</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a coverage threshold, as an alarm</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the mandated tech stack</a:t>
            </a:r>
            <a:endParaRPr lang="en-US" sz="1050" dirty="0"/>
          </a:p>
        </p:txBody>
      </p:sp>
      <p:sp>
        <p:nvSpPr>
          <p:cNvPr id="8" name="Text 6"/>
          <p:cNvSpPr/>
          <p:nvPr/>
        </p:nvSpPr>
        <p:spPr>
          <a:xfrm>
            <a:off x="822960" y="4059936"/>
            <a:ext cx="3108960" cy="402336"/>
          </a:xfrm>
          <a:prstGeom prst="rect">
            <a:avLst/>
          </a:prstGeom>
          <a:noFill/>
          <a:ln/>
        </p:spPr>
        <p:txBody>
          <a:bodyPr wrap="square" lIns="0" tIns="0" rIns="0" bIns="0" rtlCol="0" anchor="t"/>
          <a:lstStyle/>
          <a:p>
            <a:pPr indent="0" marL="0">
              <a:lnSpc>
                <a:spcPts val="1200"/>
              </a:lnSpc>
              <a:buNone/>
            </a:pPr>
            <a:r>
              <a:rPr lang="en-US" sz="950" i="1" dirty="0">
                <a:solidFill>
                  <a:srgbClr val="7C8D97"/>
                </a:solidFill>
                <a:latin typeface="Calibri" pitchFamily="34" charset="0"/>
                <a:ea typeface="Calibri" pitchFamily="34" charset="-122"/>
                <a:cs typeface="Calibri" pitchFamily="34" charset="-120"/>
              </a:rPr>
              <a:t>Judgement-based — reviewed, not gated</a:t>
            </a:r>
            <a:endParaRPr lang="en-US" sz="950" dirty="0"/>
          </a:p>
        </p:txBody>
      </p:sp>
      <p:sp>
        <p:nvSpPr>
          <p:cNvPr id="9" name="Text 7"/>
          <p:cNvSpPr/>
          <p:nvPr/>
        </p:nvSpPr>
        <p:spPr>
          <a:xfrm>
            <a:off x="841248" y="4334256"/>
            <a:ext cx="3090672" cy="1463040"/>
          </a:xfrm>
          <a:prstGeom prst="rect">
            <a:avLst/>
          </a:prstGeom>
          <a:noFill/>
          <a:ln/>
        </p:spPr>
        <p:txBody>
          <a:bodyPr wrap="square" lIns="0" tIns="0" rIns="0" bIns="0" rtlCol="0" anchor="t"/>
          <a:lstStyle/>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ports and adapters / hexagonal</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business logic kept out of technology, tooling and the UI</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an agile working method</a:t>
            </a:r>
            <a:endParaRPr lang="en-US" sz="1050" dirty="0"/>
          </a:p>
        </p:txBody>
      </p:sp>
      <p:sp>
        <p:nvSpPr>
          <p:cNvPr id="10" name="Text 8"/>
          <p:cNvSpPr/>
          <p:nvPr/>
        </p:nvSpPr>
        <p:spPr>
          <a:xfrm>
            <a:off x="4160520" y="2286000"/>
            <a:ext cx="2331720" cy="256032"/>
          </a:xfrm>
          <a:prstGeom prst="rect">
            <a:avLst/>
          </a:prstGeom>
          <a:noFill/>
          <a:ln/>
        </p:spPr>
        <p:txBody>
          <a:bodyPr wrap="square" lIns="0" tIns="0" rIns="0" bIns="0" rtlCol="0" anchor="t"/>
          <a:lstStyle/>
          <a:p>
            <a:pPr indent="0" marL="0">
              <a:buNone/>
            </a:pPr>
            <a:r>
              <a:rPr lang="en-US" sz="1250" b="1" spc="180" kern="0" dirty="0">
                <a:solidFill>
                  <a:srgbClr val="17242B"/>
                </a:solidFill>
                <a:latin typeface="Calibri" pitchFamily="34" charset="0"/>
                <a:ea typeface="Calibri" pitchFamily="34" charset="-122"/>
                <a:cs typeface="Calibri" pitchFamily="34" charset="-120"/>
              </a:rPr>
              <a:t>VALIDATED</a:t>
            </a:r>
            <a:endParaRPr lang="en-US" sz="1250" dirty="0"/>
          </a:p>
        </p:txBody>
      </p:sp>
      <p:sp>
        <p:nvSpPr>
          <p:cNvPr id="11" name="Text 9"/>
          <p:cNvSpPr/>
          <p:nvPr/>
        </p:nvSpPr>
        <p:spPr>
          <a:xfrm>
            <a:off x="4160520" y="2615184"/>
            <a:ext cx="2331720" cy="402336"/>
          </a:xfrm>
          <a:prstGeom prst="rect">
            <a:avLst/>
          </a:prstGeom>
          <a:noFill/>
          <a:ln/>
        </p:spPr>
        <p:txBody>
          <a:bodyPr wrap="square" lIns="0" tIns="0" rIns="0" bIns="0" rtlCol="0" anchor="t"/>
          <a:lstStyle/>
          <a:p>
            <a:pPr indent="0" marL="0">
              <a:lnSpc>
                <a:spcPts val="1200"/>
              </a:lnSpc>
              <a:buNone/>
            </a:pPr>
            <a:r>
              <a:rPr lang="en-US" sz="950" i="1" dirty="0">
                <a:solidFill>
                  <a:srgbClr val="7C8D97"/>
                </a:solidFill>
                <a:latin typeface="Calibri" pitchFamily="34" charset="0"/>
                <a:ea typeface="Calibri" pitchFamily="34" charset="-122"/>
                <a:cs typeface="Calibri" pitchFamily="34" charset="-120"/>
              </a:rPr>
              <a:t>Delivery and flow</a:t>
            </a:r>
            <a:endParaRPr lang="en-US" sz="950" dirty="0"/>
          </a:p>
        </p:txBody>
      </p:sp>
      <p:sp>
        <p:nvSpPr>
          <p:cNvPr id="12" name="Text 10"/>
          <p:cNvSpPr/>
          <p:nvPr/>
        </p:nvSpPr>
        <p:spPr>
          <a:xfrm>
            <a:off x="4178808" y="2889504"/>
            <a:ext cx="2313432" cy="1463040"/>
          </a:xfrm>
          <a:prstGeom prst="rect">
            <a:avLst/>
          </a:prstGeom>
          <a:noFill/>
          <a:ln/>
        </p:spPr>
        <p:txBody>
          <a:bodyPr wrap="square" lIns="0" tIns="0" rIns="0" bIns="0" rtlCol="0" anchor="t"/>
          <a:lstStyle/>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trunk-based development, short-lived branches</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feature flags — deployment decoupled from release</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continuous deployment to staging and demo</a:t>
            </a:r>
            <a:endParaRPr lang="en-US" sz="1050" dirty="0"/>
          </a:p>
        </p:txBody>
      </p:sp>
      <p:sp>
        <p:nvSpPr>
          <p:cNvPr id="13" name="Text 11"/>
          <p:cNvSpPr/>
          <p:nvPr/>
        </p:nvSpPr>
        <p:spPr>
          <a:xfrm>
            <a:off x="6858000" y="2286000"/>
            <a:ext cx="2331720" cy="256032"/>
          </a:xfrm>
          <a:prstGeom prst="rect">
            <a:avLst/>
          </a:prstGeom>
          <a:noFill/>
          <a:ln/>
        </p:spPr>
        <p:txBody>
          <a:bodyPr wrap="square" lIns="0" tIns="0" rIns="0" bIns="0" rtlCol="0" anchor="t"/>
          <a:lstStyle/>
          <a:p>
            <a:pPr indent="0" marL="0">
              <a:buNone/>
            </a:pPr>
            <a:r>
              <a:rPr lang="en-US" sz="1250" b="1" spc="180" kern="0" dirty="0">
                <a:solidFill>
                  <a:srgbClr val="17242B"/>
                </a:solidFill>
                <a:latin typeface="Calibri" pitchFamily="34" charset="0"/>
                <a:ea typeface="Calibri" pitchFamily="34" charset="-122"/>
                <a:cs typeface="Calibri" pitchFamily="34" charset="-120"/>
              </a:rPr>
              <a:t>PROMISING</a:t>
            </a:r>
            <a:endParaRPr lang="en-US" sz="1250" dirty="0"/>
          </a:p>
        </p:txBody>
      </p:sp>
      <p:sp>
        <p:nvSpPr>
          <p:cNvPr id="14" name="Text 12"/>
          <p:cNvSpPr/>
          <p:nvPr/>
        </p:nvSpPr>
        <p:spPr>
          <a:xfrm>
            <a:off x="6858000" y="2615184"/>
            <a:ext cx="2331720" cy="402336"/>
          </a:xfrm>
          <a:prstGeom prst="rect">
            <a:avLst/>
          </a:prstGeom>
          <a:noFill/>
          <a:ln/>
        </p:spPr>
        <p:txBody>
          <a:bodyPr wrap="square" lIns="0" tIns="0" rIns="0" bIns="0" rtlCol="0" anchor="t"/>
          <a:lstStyle/>
          <a:p>
            <a:pPr indent="0" marL="0">
              <a:lnSpc>
                <a:spcPts val="1200"/>
              </a:lnSpc>
              <a:buNone/>
            </a:pPr>
            <a:r>
              <a:rPr lang="en-US" sz="950" i="1" dirty="0">
                <a:solidFill>
                  <a:srgbClr val="7C8D97"/>
                </a:solidFill>
                <a:latin typeface="Calibri" pitchFamily="34" charset="0"/>
                <a:ea typeface="Calibri" pitchFamily="34" charset="-122"/>
                <a:cs typeface="Calibri" pitchFamily="34" charset="-120"/>
              </a:rPr>
              <a:t>Craft</a:t>
            </a:r>
            <a:endParaRPr lang="en-US" sz="950" dirty="0"/>
          </a:p>
        </p:txBody>
      </p:sp>
      <p:sp>
        <p:nvSpPr>
          <p:cNvPr id="15" name="Text 13"/>
          <p:cNvSpPr/>
          <p:nvPr/>
        </p:nvSpPr>
        <p:spPr>
          <a:xfrm>
            <a:off x="6876288" y="2889504"/>
            <a:ext cx="2313432" cy="1463040"/>
          </a:xfrm>
          <a:prstGeom prst="rect">
            <a:avLst/>
          </a:prstGeom>
          <a:noFill/>
          <a:ln/>
        </p:spPr>
        <p:txBody>
          <a:bodyPr wrap="square" lIns="0" tIns="0" rIns="0" bIns="0" rtlCol="0" anchor="t"/>
          <a:lstStyle/>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TDD</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pair programming</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ensemble / mob programming</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collective review formats</a:t>
            </a:r>
            <a:endParaRPr lang="en-US" sz="1050" dirty="0"/>
          </a:p>
        </p:txBody>
      </p:sp>
      <p:sp>
        <p:nvSpPr>
          <p:cNvPr id="16" name="Text 14"/>
          <p:cNvSpPr/>
          <p:nvPr/>
        </p:nvSpPr>
        <p:spPr>
          <a:xfrm>
            <a:off x="6858000" y="4059936"/>
            <a:ext cx="2331720" cy="402336"/>
          </a:xfrm>
          <a:prstGeom prst="rect">
            <a:avLst/>
          </a:prstGeom>
          <a:noFill/>
          <a:ln/>
        </p:spPr>
        <p:txBody>
          <a:bodyPr wrap="square" lIns="0" tIns="0" rIns="0" bIns="0" rtlCol="0" anchor="t"/>
          <a:lstStyle/>
          <a:p>
            <a:pPr indent="0" marL="0">
              <a:lnSpc>
                <a:spcPts val="1200"/>
              </a:lnSpc>
              <a:buNone/>
            </a:pPr>
            <a:r>
              <a:rPr lang="en-US" sz="950" i="1" dirty="0">
                <a:solidFill>
                  <a:srgbClr val="7C8D97"/>
                </a:solidFill>
                <a:latin typeface="Calibri" pitchFamily="34" charset="0"/>
                <a:ea typeface="Calibri" pitchFamily="34" charset="-122"/>
                <a:cs typeface="Calibri" pitchFamily="34" charset="-120"/>
              </a:rPr>
              <a:t>Testing beyond coverage</a:t>
            </a:r>
            <a:endParaRPr lang="en-US" sz="950" dirty="0"/>
          </a:p>
        </p:txBody>
      </p:sp>
      <p:sp>
        <p:nvSpPr>
          <p:cNvPr id="17" name="Text 15"/>
          <p:cNvSpPr/>
          <p:nvPr/>
        </p:nvSpPr>
        <p:spPr>
          <a:xfrm>
            <a:off x="6876288" y="4334256"/>
            <a:ext cx="2313432" cy="1463040"/>
          </a:xfrm>
          <a:prstGeom prst="rect">
            <a:avLst/>
          </a:prstGeom>
          <a:noFill/>
          <a:ln/>
        </p:spPr>
        <p:txBody>
          <a:bodyPr wrap="square" lIns="0" tIns="0" rIns="0" bIns="0" rtlCol="0" anchor="t"/>
          <a:lstStyle/>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contract testing</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mutation testing</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property-based testing</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architecture fitness functions</a:t>
            </a:r>
            <a:endParaRPr lang="en-US" sz="1050" dirty="0"/>
          </a:p>
        </p:txBody>
      </p:sp>
      <p:sp>
        <p:nvSpPr>
          <p:cNvPr id="18" name="Text 16"/>
          <p:cNvSpPr/>
          <p:nvPr/>
        </p:nvSpPr>
        <p:spPr>
          <a:xfrm>
            <a:off x="9555480" y="2286000"/>
            <a:ext cx="1920240" cy="256032"/>
          </a:xfrm>
          <a:prstGeom prst="rect">
            <a:avLst/>
          </a:prstGeom>
          <a:noFill/>
          <a:ln/>
        </p:spPr>
        <p:txBody>
          <a:bodyPr wrap="square" lIns="0" tIns="0" rIns="0" bIns="0" rtlCol="0" anchor="t"/>
          <a:lstStyle/>
          <a:p>
            <a:pPr indent="0" marL="0">
              <a:buNone/>
            </a:pPr>
            <a:r>
              <a:rPr lang="en-US" sz="1250" b="1" spc="180" kern="0" dirty="0">
                <a:solidFill>
                  <a:srgbClr val="17242B"/>
                </a:solidFill>
                <a:latin typeface="Calibri" pitchFamily="34" charset="0"/>
                <a:ea typeface="Calibri" pitchFamily="34" charset="-122"/>
                <a:cs typeface="Calibri" pitchFamily="34" charset="-120"/>
              </a:rPr>
              <a:t>UNTRIED</a:t>
            </a:r>
            <a:endParaRPr lang="en-US" sz="1250" dirty="0"/>
          </a:p>
        </p:txBody>
      </p:sp>
      <p:sp>
        <p:nvSpPr>
          <p:cNvPr id="19" name="Text 17"/>
          <p:cNvSpPr/>
          <p:nvPr/>
        </p:nvSpPr>
        <p:spPr>
          <a:xfrm>
            <a:off x="9555480" y="2615184"/>
            <a:ext cx="1920240" cy="402336"/>
          </a:xfrm>
          <a:prstGeom prst="rect">
            <a:avLst/>
          </a:prstGeom>
          <a:noFill/>
          <a:ln/>
        </p:spPr>
        <p:txBody>
          <a:bodyPr wrap="square" lIns="0" tIns="0" rIns="0" bIns="0" rtlCol="0" anchor="t"/>
          <a:lstStyle/>
          <a:p>
            <a:pPr indent="0" marL="0">
              <a:lnSpc>
                <a:spcPts val="1200"/>
              </a:lnSpc>
              <a:buNone/>
            </a:pPr>
            <a:r>
              <a:rPr lang="en-US" sz="950" i="1" dirty="0">
                <a:solidFill>
                  <a:srgbClr val="7C8D97"/>
                </a:solidFill>
                <a:latin typeface="Calibri" pitchFamily="34" charset="0"/>
                <a:ea typeface="Calibri" pitchFamily="34" charset="-122"/>
                <a:cs typeface="Calibri" pitchFamily="34" charset="-120"/>
              </a:rPr>
              <a:t>Where AI sits, for now</a:t>
            </a:r>
            <a:endParaRPr lang="en-US" sz="950" dirty="0"/>
          </a:p>
        </p:txBody>
      </p:sp>
      <p:sp>
        <p:nvSpPr>
          <p:cNvPr id="20" name="Text 18"/>
          <p:cNvSpPr/>
          <p:nvPr/>
        </p:nvSpPr>
        <p:spPr>
          <a:xfrm>
            <a:off x="9573768" y="2889504"/>
            <a:ext cx="1901952" cy="1463040"/>
          </a:xfrm>
          <a:prstGeom prst="rect">
            <a:avLst/>
          </a:prstGeom>
          <a:noFill/>
          <a:ln/>
        </p:spPr>
        <p:txBody>
          <a:bodyPr wrap="square" lIns="0" tIns="0" rIns="0" bIns="0" rtlCol="0" anchor="t"/>
          <a:lstStyle/>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AI-assisted code review</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agent-assisted refactoring</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AI-generated test suites</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spec-driven workflows</a:t>
            </a:r>
            <a:endParaRPr lang="en-US" sz="1050" dirty="0"/>
          </a:p>
          <a:p>
            <a:pPr marL="342900" indent="-342900">
              <a:lnSpc>
                <a:spcPts val="1350"/>
              </a:lnSpc>
              <a:spcAft>
                <a:spcPts val="300"/>
              </a:spcAft>
              <a:buSzPct val="100000"/>
              <a:buChar char="•"/>
            </a:pPr>
            <a:r>
              <a:rPr lang="en-US" sz="1050" dirty="0">
                <a:solidFill>
                  <a:srgbClr val="3D5766"/>
                </a:solidFill>
                <a:latin typeface="Calibri" pitchFamily="34" charset="0"/>
                <a:ea typeface="Calibri" pitchFamily="34" charset="-122"/>
                <a:cs typeface="Calibri" pitchFamily="34" charset="-120"/>
              </a:rPr>
              <a:t>AI prototyping in discovery</a:t>
            </a:r>
            <a:endParaRPr lang="en-US" sz="1050" dirty="0"/>
          </a:p>
        </p:txBody>
      </p:sp>
      <p:sp>
        <p:nvSpPr>
          <p:cNvPr id="21" name="Shape 19"/>
          <p:cNvSpPr/>
          <p:nvPr/>
        </p:nvSpPr>
        <p:spPr>
          <a:xfrm>
            <a:off x="822960" y="5468112"/>
            <a:ext cx="10652760" cy="548640"/>
          </a:xfrm>
          <a:prstGeom prst="rtTriangle">
            <a:avLst/>
          </a:prstGeom>
          <a:solidFill>
            <a:srgbClr val="C1512E">
              <a:alpha val="42000"/>
            </a:srgbClr>
          </a:solidFill>
          <a:ln w="12700">
            <a:solidFill>
              <a:srgbClr val="FFFFFF"/>
            </a:solidFill>
            <a:prstDash val="solid"/>
          </a:ln>
        </p:spPr>
      </p:sp>
      <p:sp>
        <p:nvSpPr>
          <p:cNvPr id="22" name="Text 20"/>
          <p:cNvSpPr/>
          <p:nvPr/>
        </p:nvSpPr>
        <p:spPr>
          <a:xfrm>
            <a:off x="1005840" y="5669280"/>
            <a:ext cx="2194560" cy="292608"/>
          </a:xfrm>
          <a:prstGeom prst="rect">
            <a:avLst/>
          </a:prstGeom>
          <a:noFill/>
          <a:ln/>
        </p:spPr>
        <p:txBody>
          <a:bodyPr wrap="square" lIns="0" tIns="0" rIns="0" bIns="0" rtlCol="0" anchor="t"/>
          <a:lstStyle/>
          <a:p>
            <a:pPr indent="0" marL="0">
              <a:buNone/>
            </a:pPr>
            <a:r>
              <a:rPr lang="en-US" sz="1150" b="1" dirty="0">
                <a:solidFill>
                  <a:srgbClr val="17242B"/>
                </a:solidFill>
                <a:latin typeface="Calibri" pitchFamily="34" charset="0"/>
                <a:ea typeface="Calibri" pitchFamily="34" charset="-122"/>
                <a:cs typeface="Calibri" pitchFamily="34" charset="-120"/>
              </a:rPr>
              <a:t>scrutiny owed</a:t>
            </a:r>
            <a:endParaRPr lang="en-US" sz="1150" dirty="0"/>
          </a:p>
        </p:txBody>
      </p:sp>
      <p:sp>
        <p:nvSpPr>
          <p:cNvPr id="23" name="Text 21"/>
          <p:cNvSpPr/>
          <p:nvPr/>
        </p:nvSpPr>
        <p:spPr>
          <a:xfrm>
            <a:off x="7543800" y="5486400"/>
            <a:ext cx="3931920" cy="274320"/>
          </a:xfrm>
          <a:prstGeom prst="rect">
            <a:avLst/>
          </a:prstGeom>
          <a:noFill/>
          <a:ln/>
        </p:spPr>
        <p:txBody>
          <a:bodyPr wrap="square" lIns="0" tIns="0" rIns="0" bIns="0" rtlCol="0" anchor="t"/>
          <a:lstStyle/>
          <a:p>
            <a:pPr algn="r" indent="0" marL="0">
              <a:buNone/>
            </a:pPr>
            <a:r>
              <a:rPr lang="en-US" sz="1000" i="1" dirty="0">
                <a:solidFill>
                  <a:srgbClr val="7C8D97"/>
                </a:solidFill>
                <a:latin typeface="Calibri" pitchFamily="34" charset="0"/>
                <a:ea typeface="Calibri" pitchFamily="34" charset="-122"/>
                <a:cs typeface="Calibri" pitchFamily="34" charset="-120"/>
              </a:rPr>
              <a:t>care in how it is trialled — not permission</a:t>
            </a:r>
            <a:endParaRPr lang="en-US" sz="1000" dirty="0"/>
          </a:p>
        </p:txBody>
      </p:sp>
      <p:sp>
        <p:nvSpPr>
          <p:cNvPr id="24" name="Shape 22"/>
          <p:cNvSpPr/>
          <p:nvPr/>
        </p:nvSpPr>
        <p:spPr>
          <a:xfrm>
            <a:off x="822960" y="6126480"/>
            <a:ext cx="10652760" cy="0"/>
          </a:xfrm>
          <a:prstGeom prst="line">
            <a:avLst/>
          </a:prstGeom>
          <a:noFill/>
          <a:ln w="15875">
            <a:solidFill>
              <a:srgbClr val="7C8D97"/>
            </a:solidFill>
            <a:prstDash val="solid"/>
            <a:tailEnd type="triangle"/>
          </a:ln>
        </p:spPr>
      </p:sp>
      <p:sp>
        <p:nvSpPr>
          <p:cNvPr id="25" name="Text 23"/>
          <p:cNvSpPr/>
          <p:nvPr/>
        </p:nvSpPr>
        <p:spPr>
          <a:xfrm>
            <a:off x="822960" y="6199632"/>
            <a:ext cx="9692640" cy="274320"/>
          </a:xfrm>
          <a:prstGeom prst="rect">
            <a:avLst/>
          </a:prstGeom>
          <a:noFill/>
          <a:ln/>
        </p:spPr>
        <p:txBody>
          <a:bodyPr wrap="square" lIns="0" tIns="0" rIns="0" bIns="0" rtlCol="0" anchor="t"/>
          <a:lstStyle/>
          <a:p>
            <a:pPr indent="0" marL="0">
              <a:buNone/>
            </a:pPr>
            <a:r>
              <a:rPr lang="en-US" sz="1050" i="1" dirty="0">
                <a:solidFill>
                  <a:srgbClr val="7C8D97"/>
                </a:solidFill>
                <a:latin typeface="Calibri" pitchFamily="34" charset="0"/>
                <a:ea typeface="Calibri" pitchFamily="34" charset="-122"/>
                <a:cs typeface="Calibri" pitchFamily="34" charset="-120"/>
              </a:rPr>
              <a:t>Moving something down towards mandatory has to be justified and challenged. Moving something up into untried does not.</a:t>
            </a:r>
            <a:endParaRPr lang="en-US" sz="1050" dirty="0"/>
          </a:p>
        </p:txBody>
      </p:sp>
      <p:sp>
        <p:nvSpPr>
          <p:cNvPr id="26" name="Shape 24"/>
          <p:cNvSpPr/>
          <p:nvPr/>
        </p:nvSpPr>
        <p:spPr>
          <a:xfrm>
            <a:off x="11259007" y="6291072"/>
            <a:ext cx="137160" cy="137160"/>
          </a:xfrm>
          <a:prstGeom prst="ellipse">
            <a:avLst/>
          </a:prstGeom>
          <a:ln w="12700">
            <a:solidFill>
              <a:srgbClr val="7C8D97"/>
            </a:solidFill>
            <a:prstDash val="solid"/>
          </a:ln>
        </p:spPr>
      </p:sp>
      <p:sp>
        <p:nvSpPr>
          <p:cNvPr id="27" name="Text 25"/>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7C8D97"/>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GOVERNANCE</a:t>
            </a:r>
            <a:endParaRPr lang="en-US" sz="1150" dirty="0"/>
          </a:p>
        </p:txBody>
      </p:sp>
      <p:sp>
        <p:nvSpPr>
          <p:cNvPr id="3" name="Text 1"/>
          <p:cNvSpPr/>
          <p:nvPr/>
        </p:nvSpPr>
        <p:spPr>
          <a:xfrm>
            <a:off x="822960" y="804672"/>
            <a:ext cx="10545775" cy="685800"/>
          </a:xfrm>
          <a:prstGeom prst="rect">
            <a:avLst/>
          </a:prstGeom>
          <a:noFill/>
          <a:ln/>
        </p:spPr>
        <p:txBody>
          <a:bodyPr wrap="square" lIns="0" tIns="0" rIns="0" bIns="0" rtlCol="0" anchor="t"/>
          <a:lstStyle/>
          <a:p>
            <a:pPr indent="0" marL="0">
              <a:buNone/>
            </a:pPr>
            <a:r>
              <a:rPr lang="en-US" sz="3400" b="1" dirty="0">
                <a:solidFill>
                  <a:srgbClr val="17242B"/>
                </a:solidFill>
                <a:latin typeface="Cambria" pitchFamily="34" charset="0"/>
                <a:ea typeface="Cambria" pitchFamily="34" charset="-122"/>
                <a:cs typeface="Cambria" pitchFamily="34" charset="-120"/>
              </a:rPr>
              <a:t>Govern the experiments, not the answers.</a:t>
            </a:r>
            <a:endParaRPr lang="en-US" sz="3400" dirty="0"/>
          </a:p>
        </p:txBody>
      </p:sp>
      <p:sp>
        <p:nvSpPr>
          <p:cNvPr id="4" name="Shape 2"/>
          <p:cNvSpPr/>
          <p:nvPr/>
        </p:nvSpPr>
        <p:spPr>
          <a:xfrm>
            <a:off x="822960" y="1965960"/>
            <a:ext cx="4983480" cy="2514600"/>
          </a:xfrm>
          <a:prstGeom prst="roundRect">
            <a:avLst>
              <a:gd name="adj" fmla="val 2182"/>
            </a:avLst>
          </a:prstGeom>
          <a:solidFill>
            <a:srgbClr val="EDF1F3"/>
          </a:solidFill>
          <a:ln/>
        </p:spPr>
      </p:sp>
      <p:sp>
        <p:nvSpPr>
          <p:cNvPr id="5" name="Text 3"/>
          <p:cNvSpPr/>
          <p:nvPr/>
        </p:nvSpPr>
        <p:spPr>
          <a:xfrm>
            <a:off x="1188720" y="2240280"/>
            <a:ext cx="4251960" cy="320040"/>
          </a:xfrm>
          <a:prstGeom prst="rect">
            <a:avLst/>
          </a:prstGeom>
          <a:noFill/>
          <a:ln/>
        </p:spPr>
        <p:txBody>
          <a:bodyPr wrap="square" lIns="0" tIns="0" rIns="0" bIns="0" rtlCol="0" anchor="t"/>
          <a:lstStyle/>
          <a:p>
            <a:pPr indent="0" marL="0">
              <a:buNone/>
            </a:pPr>
            <a:r>
              <a:rPr lang="en-US" sz="1500" b="1" dirty="0">
                <a:solidFill>
                  <a:srgbClr val="3D5766"/>
                </a:solidFill>
                <a:latin typeface="Calibri" pitchFamily="34" charset="0"/>
                <a:ea typeface="Calibri" pitchFamily="34" charset="-122"/>
                <a:cs typeface="Calibri" pitchFamily="34" charset="-120"/>
              </a:rPr>
              <a:t>What we stop deciding centrally</a:t>
            </a:r>
            <a:endParaRPr lang="en-US" sz="1500" dirty="0"/>
          </a:p>
        </p:txBody>
      </p:sp>
      <p:sp>
        <p:nvSpPr>
          <p:cNvPr id="6" name="Text 4"/>
          <p:cNvSpPr/>
          <p:nvPr/>
        </p:nvSpPr>
        <p:spPr>
          <a:xfrm>
            <a:off x="1188720" y="2670048"/>
            <a:ext cx="4251960" cy="160020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350" dirty="0">
                <a:solidFill>
                  <a:srgbClr val="3D5766"/>
                </a:solidFill>
                <a:latin typeface="Calibri" pitchFamily="34" charset="0"/>
                <a:ea typeface="Calibri" pitchFamily="34" charset="-122"/>
                <a:cs typeface="Calibri" pitchFamily="34" charset="-120"/>
              </a:rPr>
              <a:t>Which practice wins.</a:t>
            </a:r>
            <a:endParaRPr lang="en-US" sz="1350" dirty="0"/>
          </a:p>
          <a:p>
            <a:pPr marL="342900" indent="-342900">
              <a:lnSpc>
                <a:spcPts val="1900"/>
              </a:lnSpc>
              <a:spcAft>
                <a:spcPts val="700"/>
              </a:spcAft>
              <a:buSzPct val="100000"/>
              <a:buChar char="•"/>
            </a:pPr>
            <a:r>
              <a:rPr lang="en-US" sz="1350" dirty="0">
                <a:solidFill>
                  <a:srgbClr val="3D5766"/>
                </a:solidFill>
                <a:latin typeface="Calibri" pitchFamily="34" charset="0"/>
                <a:ea typeface="Calibri" pitchFamily="34" charset="-122"/>
                <a:cs typeface="Calibri" pitchFamily="34" charset="-120"/>
              </a:rPr>
              <a:t>Whether a team should pair, or mob, or do TDD.</a:t>
            </a:r>
            <a:endParaRPr lang="en-US" sz="1350" dirty="0"/>
          </a:p>
          <a:p>
            <a:pPr marL="342900" indent="-342900">
              <a:lnSpc>
                <a:spcPts val="1900"/>
              </a:lnSpc>
              <a:spcAft>
                <a:spcPts val="700"/>
              </a:spcAft>
              <a:buSzPct val="100000"/>
              <a:buChar char="•"/>
            </a:pPr>
            <a:r>
              <a:rPr lang="en-US" sz="1350" dirty="0">
                <a:solidFill>
                  <a:srgbClr val="3D5766"/>
                </a:solidFill>
                <a:latin typeface="Calibri" pitchFamily="34" charset="0"/>
                <a:ea typeface="Calibri" pitchFamily="34" charset="-122"/>
                <a:cs typeface="Calibri" pitchFamily="34" charset="-120"/>
              </a:rPr>
              <a:t>Which tool is allowed to be tried.</a:t>
            </a:r>
            <a:endParaRPr lang="en-US" sz="1350" dirty="0"/>
          </a:p>
        </p:txBody>
      </p:sp>
      <p:sp>
        <p:nvSpPr>
          <p:cNvPr id="7" name="Shape 5"/>
          <p:cNvSpPr/>
          <p:nvPr/>
        </p:nvSpPr>
        <p:spPr>
          <a:xfrm>
            <a:off x="6355080" y="1965960"/>
            <a:ext cx="4983480" cy="2514600"/>
          </a:xfrm>
          <a:prstGeom prst="roundRect">
            <a:avLst>
              <a:gd name="adj" fmla="val 2182"/>
            </a:avLst>
          </a:prstGeom>
          <a:solidFill>
            <a:srgbClr val="F3E4DE"/>
          </a:solidFill>
          <a:ln/>
        </p:spPr>
      </p:sp>
      <p:sp>
        <p:nvSpPr>
          <p:cNvPr id="8" name="Text 6"/>
          <p:cNvSpPr/>
          <p:nvPr/>
        </p:nvSpPr>
        <p:spPr>
          <a:xfrm>
            <a:off x="6720840" y="2240280"/>
            <a:ext cx="4251960" cy="320040"/>
          </a:xfrm>
          <a:prstGeom prst="rect">
            <a:avLst/>
          </a:prstGeom>
          <a:noFill/>
          <a:ln/>
        </p:spPr>
        <p:txBody>
          <a:bodyPr wrap="square" lIns="0" tIns="0" rIns="0" bIns="0" rtlCol="0" anchor="t"/>
          <a:lstStyle/>
          <a:p>
            <a:pPr indent="0" marL="0">
              <a:buNone/>
            </a:pPr>
            <a:r>
              <a:rPr lang="en-US" sz="1500" b="1" dirty="0">
                <a:solidFill>
                  <a:srgbClr val="C1512E"/>
                </a:solidFill>
                <a:latin typeface="Calibri" pitchFamily="34" charset="0"/>
                <a:ea typeface="Calibri" pitchFamily="34" charset="-122"/>
                <a:cs typeface="Calibri" pitchFamily="34" charset="-120"/>
              </a:rPr>
              <a:t>What we govern instead</a:t>
            </a:r>
            <a:endParaRPr lang="en-US" sz="1500" dirty="0"/>
          </a:p>
        </p:txBody>
      </p:sp>
      <p:sp>
        <p:nvSpPr>
          <p:cNvPr id="9" name="Text 7"/>
          <p:cNvSpPr/>
          <p:nvPr/>
        </p:nvSpPr>
        <p:spPr>
          <a:xfrm>
            <a:off x="6720840" y="2670048"/>
            <a:ext cx="4251960" cy="1600200"/>
          </a:xfrm>
          <a:prstGeom prst="rect">
            <a:avLst/>
          </a:prstGeom>
          <a:noFill/>
          <a:ln/>
        </p:spPr>
        <p:txBody>
          <a:bodyPr wrap="square" lIns="0" tIns="0" rIns="0" bIns="0" rtlCol="0" anchor="t"/>
          <a:lstStyle/>
          <a:p>
            <a:pPr marL="342900" indent="-342900">
              <a:lnSpc>
                <a:spcPts val="1900"/>
              </a:lnSpc>
              <a:spcAft>
                <a:spcPts val="700"/>
              </a:spcAft>
              <a:buSzPct val="100000"/>
              <a:buChar char="•"/>
            </a:pPr>
            <a:r>
              <a:rPr lang="en-US" sz="1350" dirty="0">
                <a:solidFill>
                  <a:srgbClr val="3D5766"/>
                </a:solidFill>
                <a:latin typeface="Calibri" pitchFamily="34" charset="0"/>
                <a:ea typeface="Calibri" pitchFamily="34" charset="-122"/>
                <a:cs typeface="Calibri" pitchFamily="34" charset="-120"/>
              </a:rPr>
              <a:t>How many experiments run at once.</a:t>
            </a:r>
            <a:endParaRPr lang="en-US" sz="1350" dirty="0"/>
          </a:p>
          <a:p>
            <a:pPr marL="342900" indent="-342900">
              <a:lnSpc>
                <a:spcPts val="1900"/>
              </a:lnSpc>
              <a:spcAft>
                <a:spcPts val="700"/>
              </a:spcAft>
              <a:buSzPct val="100000"/>
              <a:buChar char="•"/>
            </a:pPr>
            <a:r>
              <a:rPr lang="en-US" sz="1350" dirty="0">
                <a:solidFill>
                  <a:srgbClr val="3D5766"/>
                </a:solidFill>
                <a:latin typeface="Calibri" pitchFamily="34" charset="0"/>
                <a:ea typeface="Calibri" pitchFamily="34" charset="-122"/>
                <a:cs typeface="Calibri" pitchFamily="34" charset="-120"/>
              </a:rPr>
              <a:t>What is declared upfront — including the measure.</a:t>
            </a:r>
            <a:endParaRPr lang="en-US" sz="1350" dirty="0"/>
          </a:p>
          <a:p>
            <a:pPr marL="342900" indent="-342900">
              <a:lnSpc>
                <a:spcPts val="1900"/>
              </a:lnSpc>
              <a:spcAft>
                <a:spcPts val="700"/>
              </a:spcAft>
              <a:buSzPct val="100000"/>
              <a:buChar char="•"/>
            </a:pPr>
            <a:r>
              <a:rPr lang="en-US" sz="1350" dirty="0">
                <a:solidFill>
                  <a:srgbClr val="3D5766"/>
                </a:solidFill>
                <a:latin typeface="Calibri" pitchFamily="34" charset="0"/>
                <a:ea typeface="Calibri" pitchFamily="34" charset="-122"/>
                <a:cs typeface="Calibri" pitchFamily="34" charset="-120"/>
              </a:rPr>
              <a:t>When each one is reviewed.</a:t>
            </a:r>
            <a:endParaRPr lang="en-US" sz="1350" dirty="0"/>
          </a:p>
          <a:p>
            <a:pPr marL="342900" indent="-342900">
              <a:lnSpc>
                <a:spcPts val="1900"/>
              </a:lnSpc>
              <a:spcAft>
                <a:spcPts val="700"/>
              </a:spcAft>
              <a:buSzPct val="100000"/>
              <a:buChar char="•"/>
            </a:pPr>
            <a:r>
              <a:rPr lang="en-US" sz="1350" dirty="0">
                <a:solidFill>
                  <a:srgbClr val="3D5766"/>
                </a:solidFill>
                <a:latin typeface="Calibri" pitchFamily="34" charset="0"/>
                <a:ea typeface="Calibri" pitchFamily="34" charset="-122"/>
                <a:cs typeface="Calibri" pitchFamily="34" charset="-120"/>
              </a:rPr>
              <a:t>What evidence gets published afterwards.</a:t>
            </a:r>
            <a:endParaRPr lang="en-US" sz="1350" dirty="0"/>
          </a:p>
        </p:txBody>
      </p:sp>
      <p:sp>
        <p:nvSpPr>
          <p:cNvPr id="10" name="Text 8"/>
          <p:cNvSpPr/>
          <p:nvPr/>
        </p:nvSpPr>
        <p:spPr>
          <a:xfrm>
            <a:off x="822960" y="4663440"/>
            <a:ext cx="10515600" cy="548640"/>
          </a:xfrm>
          <a:prstGeom prst="rect">
            <a:avLst/>
          </a:prstGeom>
          <a:noFill/>
          <a:ln/>
        </p:spPr>
        <p:txBody>
          <a:bodyPr wrap="square" lIns="0" tIns="0" rIns="0" bIns="0" rtlCol="0" anchor="t"/>
          <a:lstStyle/>
          <a:p>
            <a:pPr indent="0" marL="0">
              <a:buNone/>
            </a:pPr>
            <a:r>
              <a:rPr lang="en-US" sz="2600" b="1" dirty="0">
                <a:solidFill>
                  <a:srgbClr val="17242B"/>
                </a:solidFill>
                <a:latin typeface="Cambria" pitchFamily="34" charset="0"/>
                <a:ea typeface="Cambria" pitchFamily="34" charset="-122"/>
                <a:cs typeface="Cambria" pitchFamily="34" charset="-120"/>
              </a:rPr>
              <a:t>Control that produces evidence rather than documents.</a:t>
            </a:r>
            <a:endParaRPr lang="en-US" sz="2600" dirty="0"/>
          </a:p>
        </p:txBody>
      </p:sp>
      <p:sp>
        <p:nvSpPr>
          <p:cNvPr id="11" name="Text 9"/>
          <p:cNvSpPr/>
          <p:nvPr/>
        </p:nvSpPr>
        <p:spPr>
          <a:xfrm>
            <a:off x="822960" y="5321808"/>
            <a:ext cx="10515600" cy="365760"/>
          </a:xfrm>
          <a:prstGeom prst="rect">
            <a:avLst/>
          </a:prstGeom>
          <a:noFill/>
          <a:ln/>
        </p:spPr>
        <p:txBody>
          <a:bodyPr wrap="square" lIns="0" tIns="0" rIns="0" bIns="0" rtlCol="0" anchor="t"/>
          <a:lstStyle/>
          <a:p>
            <a:pPr indent="0" marL="0">
              <a:buNone/>
            </a:pPr>
            <a:r>
              <a:rPr lang="en-US" sz="1400" dirty="0">
                <a:solidFill>
                  <a:srgbClr val="7C8D97"/>
                </a:solidFill>
                <a:latin typeface="Calibri" pitchFamily="34" charset="0"/>
                <a:ea typeface="Calibri" pitchFamily="34" charset="-122"/>
                <a:cs typeface="Calibri" pitchFamily="34" charset="-120"/>
              </a:rPr>
              <a:t>Inspection is required. Who does it — peers, architects, a guild, a board — is tactical, and left open here on purpose.</a:t>
            </a:r>
            <a:endParaRPr lang="en-US" sz="1400" dirty="0"/>
          </a:p>
        </p:txBody>
      </p:sp>
      <p:sp>
        <p:nvSpPr>
          <p:cNvPr id="12" name="Shape 10"/>
          <p:cNvSpPr/>
          <p:nvPr/>
        </p:nvSpPr>
        <p:spPr>
          <a:xfrm>
            <a:off x="11259007" y="6291072"/>
            <a:ext cx="137160" cy="137160"/>
          </a:xfrm>
          <a:prstGeom prst="ellipse">
            <a:avLst/>
          </a:prstGeom>
          <a:ln w="12700">
            <a:solidFill>
              <a:srgbClr val="7C8D97"/>
            </a:solidFill>
            <a:prstDash val="solid"/>
          </a:ln>
        </p:spPr>
      </p:sp>
      <p:sp>
        <p:nvSpPr>
          <p:cNvPr id="13" name="Text 11"/>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7C8D97"/>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22960" y="475488"/>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CLOSING THE LOOP</a:t>
            </a:r>
            <a:endParaRPr lang="en-US" sz="1150" dirty="0"/>
          </a:p>
        </p:txBody>
      </p:sp>
      <p:sp>
        <p:nvSpPr>
          <p:cNvPr id="3" name="Text 1"/>
          <p:cNvSpPr/>
          <p:nvPr/>
        </p:nvSpPr>
        <p:spPr>
          <a:xfrm>
            <a:off x="822960" y="804672"/>
            <a:ext cx="10545775" cy="685800"/>
          </a:xfrm>
          <a:prstGeom prst="rect">
            <a:avLst/>
          </a:prstGeom>
          <a:noFill/>
          <a:ln/>
        </p:spPr>
        <p:txBody>
          <a:bodyPr wrap="square" lIns="0" tIns="0" rIns="0" bIns="0" rtlCol="0" anchor="t"/>
          <a:lstStyle/>
          <a:p>
            <a:pPr indent="0" marL="0">
              <a:buNone/>
            </a:pPr>
            <a:r>
              <a:rPr lang="en-US" sz="3400" b="1" dirty="0">
                <a:solidFill>
                  <a:srgbClr val="17242B"/>
                </a:solidFill>
                <a:latin typeface="Cambria" pitchFamily="34" charset="0"/>
                <a:ea typeface="Cambria" pitchFamily="34" charset="-122"/>
                <a:cs typeface="Cambria" pitchFamily="34" charset="-120"/>
              </a:rPr>
              <a:t>Three parts, one system.</a:t>
            </a:r>
            <a:endParaRPr lang="en-US" sz="3400" dirty="0"/>
          </a:p>
        </p:txBody>
      </p:sp>
      <p:sp>
        <p:nvSpPr>
          <p:cNvPr id="4" name="Text 2"/>
          <p:cNvSpPr/>
          <p:nvPr/>
        </p:nvSpPr>
        <p:spPr>
          <a:xfrm>
            <a:off x="822960" y="1536192"/>
            <a:ext cx="7315200" cy="320040"/>
          </a:xfrm>
          <a:prstGeom prst="rect">
            <a:avLst/>
          </a:prstGeom>
          <a:noFill/>
          <a:ln/>
        </p:spPr>
        <p:txBody>
          <a:bodyPr wrap="square" lIns="0" tIns="0" rIns="0" bIns="0" rtlCol="0" anchor="t"/>
          <a:lstStyle/>
          <a:p>
            <a:pPr indent="0" marL="0">
              <a:buNone/>
            </a:pPr>
            <a:r>
              <a:rPr lang="en-US" sz="1500" dirty="0">
                <a:solidFill>
                  <a:srgbClr val="7C8D97"/>
                </a:solidFill>
                <a:latin typeface="Calibri" pitchFamily="34" charset="0"/>
                <a:ea typeface="Calibri" pitchFamily="34" charset="-122"/>
                <a:cs typeface="Calibri" pitchFamily="34" charset="-120"/>
              </a:rPr>
              <a:t>Any one of them alone stalls.</a:t>
            </a:r>
            <a:endParaRPr lang="en-US" sz="1500" dirty="0"/>
          </a:p>
        </p:txBody>
      </p:sp>
      <p:sp>
        <p:nvSpPr>
          <p:cNvPr id="5" name="Shape 3"/>
          <p:cNvSpPr/>
          <p:nvPr/>
        </p:nvSpPr>
        <p:spPr>
          <a:xfrm flipV="1">
            <a:off x="3681568" y="2811076"/>
            <a:ext cx="1750021" cy="1463040"/>
          </a:xfrm>
          <a:prstGeom prst="line">
            <a:avLst/>
          </a:prstGeom>
          <a:noFill/>
          <a:ln w="25400">
            <a:solidFill>
              <a:srgbClr val="2F7D6B"/>
            </a:solidFill>
            <a:prstDash val="solid"/>
            <a:headEnd type="triangle"/>
          </a:ln>
        </p:spPr>
      </p:sp>
      <p:sp>
        <p:nvSpPr>
          <p:cNvPr id="6" name="Text 4"/>
          <p:cNvSpPr/>
          <p:nvPr/>
        </p:nvSpPr>
        <p:spPr>
          <a:xfrm>
            <a:off x="3747349" y="3506747"/>
            <a:ext cx="292608" cy="274320"/>
          </a:xfrm>
          <a:prstGeom prst="rect">
            <a:avLst/>
          </a:prstGeom>
          <a:noFill/>
          <a:ln/>
        </p:spPr>
        <p:txBody>
          <a:bodyPr wrap="square" lIns="0" tIns="0" rIns="0" bIns="0" rtlCol="0" anchor="ctr"/>
          <a:lstStyle/>
          <a:p>
            <a:pPr algn="ctr" indent="0" marL="0">
              <a:buNone/>
            </a:pPr>
            <a:r>
              <a:rPr lang="en-US" sz="1400" b="1" dirty="0">
                <a:solidFill>
                  <a:srgbClr val="2F7D6B"/>
                </a:solidFill>
                <a:latin typeface="Calibri" pitchFamily="34" charset="0"/>
                <a:ea typeface="Calibri" pitchFamily="34" charset="-122"/>
                <a:cs typeface="Calibri" pitchFamily="34" charset="-120"/>
              </a:rPr>
              <a:t>+</a:t>
            </a:r>
            <a:endParaRPr lang="en-US" sz="1400" dirty="0"/>
          </a:p>
        </p:txBody>
      </p:sp>
      <p:sp>
        <p:nvSpPr>
          <p:cNvPr id="7" name="Shape 5"/>
          <p:cNvSpPr/>
          <p:nvPr/>
        </p:nvSpPr>
        <p:spPr>
          <a:xfrm flipV="1">
            <a:off x="3904435" y="3077660"/>
            <a:ext cx="1750021" cy="1463040"/>
          </a:xfrm>
          <a:prstGeom prst="line">
            <a:avLst/>
          </a:prstGeom>
          <a:noFill/>
          <a:ln w="25400">
            <a:solidFill>
              <a:srgbClr val="2F7D6B"/>
            </a:solidFill>
            <a:prstDash val="solid"/>
            <a:tailEnd type="triangle"/>
          </a:ln>
        </p:spPr>
      </p:sp>
      <p:sp>
        <p:nvSpPr>
          <p:cNvPr id="8" name="Text 6"/>
          <p:cNvSpPr/>
          <p:nvPr/>
        </p:nvSpPr>
        <p:spPr>
          <a:xfrm>
            <a:off x="5296067" y="3570709"/>
            <a:ext cx="292608" cy="274320"/>
          </a:xfrm>
          <a:prstGeom prst="rect">
            <a:avLst/>
          </a:prstGeom>
          <a:noFill/>
          <a:ln/>
        </p:spPr>
        <p:txBody>
          <a:bodyPr wrap="square" lIns="0" tIns="0" rIns="0" bIns="0" rtlCol="0" anchor="ctr"/>
          <a:lstStyle/>
          <a:p>
            <a:pPr algn="ctr" indent="0" marL="0">
              <a:buNone/>
            </a:pPr>
            <a:r>
              <a:rPr lang="en-US" sz="1400" b="1" dirty="0">
                <a:solidFill>
                  <a:srgbClr val="2F7D6B"/>
                </a:solidFill>
                <a:latin typeface="Calibri" pitchFamily="34" charset="0"/>
                <a:ea typeface="Calibri" pitchFamily="34" charset="-122"/>
                <a:cs typeface="Calibri" pitchFamily="34" charset="-120"/>
              </a:rPr>
              <a:t>+</a:t>
            </a:r>
            <a:endParaRPr lang="en-US" sz="1400" dirty="0"/>
          </a:p>
        </p:txBody>
      </p:sp>
      <p:sp>
        <p:nvSpPr>
          <p:cNvPr id="9" name="Shape 7"/>
          <p:cNvSpPr/>
          <p:nvPr/>
        </p:nvSpPr>
        <p:spPr>
          <a:xfrm>
            <a:off x="6525352" y="3077660"/>
            <a:ext cx="1750021" cy="1463040"/>
          </a:xfrm>
          <a:prstGeom prst="line">
            <a:avLst/>
          </a:prstGeom>
          <a:noFill/>
          <a:ln w="25400">
            <a:solidFill>
              <a:srgbClr val="2F7D6B"/>
            </a:solidFill>
            <a:prstDash val="solid"/>
            <a:tailEnd type="triangle"/>
          </a:ln>
        </p:spPr>
      </p:sp>
      <p:sp>
        <p:nvSpPr>
          <p:cNvPr id="10" name="Text 8"/>
          <p:cNvSpPr/>
          <p:nvPr/>
        </p:nvSpPr>
        <p:spPr>
          <a:xfrm>
            <a:off x="7471249" y="4306498"/>
            <a:ext cx="292608" cy="274320"/>
          </a:xfrm>
          <a:prstGeom prst="rect">
            <a:avLst/>
          </a:prstGeom>
          <a:noFill/>
          <a:ln/>
        </p:spPr>
        <p:txBody>
          <a:bodyPr wrap="square" lIns="0" tIns="0" rIns="0" bIns="0" rtlCol="0" anchor="ctr"/>
          <a:lstStyle/>
          <a:p>
            <a:pPr algn="ctr" indent="0" marL="0">
              <a:buNone/>
            </a:pPr>
            <a:r>
              <a:rPr lang="en-US" sz="1400" b="1" dirty="0">
                <a:solidFill>
                  <a:srgbClr val="2F7D6B"/>
                </a:solidFill>
                <a:latin typeface="Calibri" pitchFamily="34" charset="0"/>
                <a:ea typeface="Calibri" pitchFamily="34" charset="-122"/>
                <a:cs typeface="Calibri" pitchFamily="34" charset="-120"/>
              </a:rPr>
              <a:t>+</a:t>
            </a:r>
            <a:endParaRPr lang="en-US" sz="1400" dirty="0"/>
          </a:p>
        </p:txBody>
      </p:sp>
      <p:sp>
        <p:nvSpPr>
          <p:cNvPr id="11" name="Shape 9"/>
          <p:cNvSpPr/>
          <p:nvPr/>
        </p:nvSpPr>
        <p:spPr>
          <a:xfrm>
            <a:off x="6748219" y="2811076"/>
            <a:ext cx="1750021" cy="1463040"/>
          </a:xfrm>
          <a:prstGeom prst="line">
            <a:avLst/>
          </a:prstGeom>
          <a:noFill/>
          <a:ln w="25400">
            <a:solidFill>
              <a:srgbClr val="2F7D6B"/>
            </a:solidFill>
            <a:prstDash val="solid"/>
            <a:headEnd type="triangle"/>
          </a:ln>
        </p:spPr>
      </p:sp>
      <p:sp>
        <p:nvSpPr>
          <p:cNvPr id="12" name="Text 10"/>
          <p:cNvSpPr/>
          <p:nvPr/>
        </p:nvSpPr>
        <p:spPr>
          <a:xfrm>
            <a:off x="7259735" y="2770958"/>
            <a:ext cx="292608" cy="274320"/>
          </a:xfrm>
          <a:prstGeom prst="rect">
            <a:avLst/>
          </a:prstGeom>
          <a:noFill/>
          <a:ln/>
        </p:spPr>
        <p:txBody>
          <a:bodyPr wrap="square" lIns="0" tIns="0" rIns="0" bIns="0" rtlCol="0" anchor="ctr"/>
          <a:lstStyle/>
          <a:p>
            <a:pPr algn="ctr" indent="0" marL="0">
              <a:buNone/>
            </a:pPr>
            <a:r>
              <a:rPr lang="en-US" sz="1400" b="1" dirty="0">
                <a:solidFill>
                  <a:srgbClr val="2F7D6B"/>
                </a:solidFill>
                <a:latin typeface="Calibri" pitchFamily="34" charset="0"/>
                <a:ea typeface="Calibri" pitchFamily="34" charset="-122"/>
                <a:cs typeface="Calibri" pitchFamily="34" charset="-120"/>
              </a:rPr>
              <a:t>+</a:t>
            </a:r>
            <a:endParaRPr lang="en-US" sz="1400" dirty="0"/>
          </a:p>
        </p:txBody>
      </p:sp>
      <p:sp>
        <p:nvSpPr>
          <p:cNvPr id="13" name="Shape 11"/>
          <p:cNvSpPr/>
          <p:nvPr/>
        </p:nvSpPr>
        <p:spPr>
          <a:xfrm>
            <a:off x="4631436" y="5038344"/>
            <a:ext cx="2916936" cy="0"/>
          </a:xfrm>
          <a:prstGeom prst="line">
            <a:avLst/>
          </a:prstGeom>
          <a:noFill/>
          <a:ln w="25400">
            <a:solidFill>
              <a:srgbClr val="2F7D6B"/>
            </a:solidFill>
            <a:prstDash val="solid"/>
            <a:tailEnd type="triangle"/>
          </a:ln>
        </p:spPr>
      </p:sp>
      <p:sp>
        <p:nvSpPr>
          <p:cNvPr id="14" name="Text 12"/>
          <p:cNvSpPr/>
          <p:nvPr/>
        </p:nvSpPr>
        <p:spPr>
          <a:xfrm>
            <a:off x="6835140" y="5248656"/>
            <a:ext cx="292608" cy="274320"/>
          </a:xfrm>
          <a:prstGeom prst="rect">
            <a:avLst/>
          </a:prstGeom>
          <a:noFill/>
          <a:ln/>
        </p:spPr>
        <p:txBody>
          <a:bodyPr wrap="square" lIns="0" tIns="0" rIns="0" bIns="0" rtlCol="0" anchor="ctr"/>
          <a:lstStyle/>
          <a:p>
            <a:pPr algn="ctr" indent="0" marL="0">
              <a:buNone/>
            </a:pPr>
            <a:r>
              <a:rPr lang="en-US" sz="1400" b="1" dirty="0">
                <a:solidFill>
                  <a:srgbClr val="2F7D6B"/>
                </a:solidFill>
                <a:latin typeface="Calibri" pitchFamily="34" charset="0"/>
                <a:ea typeface="Calibri" pitchFamily="34" charset="-122"/>
                <a:cs typeface="Calibri" pitchFamily="34" charset="-120"/>
              </a:rPr>
              <a:t>+</a:t>
            </a:r>
            <a:endParaRPr lang="en-US" sz="1400" dirty="0"/>
          </a:p>
        </p:txBody>
      </p:sp>
      <p:sp>
        <p:nvSpPr>
          <p:cNvPr id="15" name="Shape 13"/>
          <p:cNvSpPr/>
          <p:nvPr/>
        </p:nvSpPr>
        <p:spPr>
          <a:xfrm>
            <a:off x="4631436" y="4690872"/>
            <a:ext cx="2916936" cy="0"/>
          </a:xfrm>
          <a:prstGeom prst="line">
            <a:avLst/>
          </a:prstGeom>
          <a:noFill/>
          <a:ln w="25400">
            <a:solidFill>
              <a:srgbClr val="2F7D6B"/>
            </a:solidFill>
            <a:prstDash val="solid"/>
            <a:headEnd type="triangle"/>
          </a:ln>
        </p:spPr>
      </p:sp>
      <p:sp>
        <p:nvSpPr>
          <p:cNvPr id="16" name="Text 14"/>
          <p:cNvSpPr/>
          <p:nvPr/>
        </p:nvSpPr>
        <p:spPr>
          <a:xfrm>
            <a:off x="5052060" y="4206240"/>
            <a:ext cx="292608" cy="274320"/>
          </a:xfrm>
          <a:prstGeom prst="rect">
            <a:avLst/>
          </a:prstGeom>
          <a:noFill/>
          <a:ln/>
        </p:spPr>
        <p:txBody>
          <a:bodyPr wrap="square" lIns="0" tIns="0" rIns="0" bIns="0" rtlCol="0" anchor="ctr"/>
          <a:lstStyle/>
          <a:p>
            <a:pPr algn="ctr" indent="0" marL="0">
              <a:buNone/>
            </a:pPr>
            <a:r>
              <a:rPr lang="en-US" sz="1400" b="1" dirty="0">
                <a:solidFill>
                  <a:srgbClr val="2F7D6B"/>
                </a:solidFill>
                <a:latin typeface="Calibri" pitchFamily="34" charset="0"/>
                <a:ea typeface="Calibri" pitchFamily="34" charset="-122"/>
                <a:cs typeface="Calibri" pitchFamily="34" charset="-120"/>
              </a:rPr>
              <a:t>+</a:t>
            </a:r>
            <a:endParaRPr lang="en-US" sz="1400" dirty="0"/>
          </a:p>
        </p:txBody>
      </p:sp>
      <p:sp>
        <p:nvSpPr>
          <p:cNvPr id="17" name="Shape 15"/>
          <p:cNvSpPr/>
          <p:nvPr/>
        </p:nvSpPr>
        <p:spPr>
          <a:xfrm>
            <a:off x="4430268" y="3438144"/>
            <a:ext cx="475488" cy="475488"/>
          </a:xfrm>
          <a:prstGeom prst="ellipse">
            <a:avLst/>
          </a:prstGeom>
          <a:solidFill>
            <a:srgbClr val="FFFFFF"/>
          </a:solidFill>
          <a:ln w="19050">
            <a:solidFill>
              <a:srgbClr val="C1512E"/>
            </a:solidFill>
            <a:prstDash val="solid"/>
          </a:ln>
        </p:spPr>
      </p:sp>
      <p:sp>
        <p:nvSpPr>
          <p:cNvPr id="18" name="Text 16"/>
          <p:cNvSpPr/>
          <p:nvPr/>
        </p:nvSpPr>
        <p:spPr>
          <a:xfrm>
            <a:off x="4430268" y="3438144"/>
            <a:ext cx="475488" cy="475488"/>
          </a:xfrm>
          <a:prstGeom prst="rect">
            <a:avLst/>
          </a:prstGeom>
          <a:noFill/>
          <a:ln/>
        </p:spPr>
        <p:txBody>
          <a:bodyPr wrap="square" lIns="0" tIns="0" rIns="0" bIns="0" rtlCol="0" anchor="ctr"/>
          <a:lstStyle/>
          <a:p>
            <a:pPr algn="ctr" indent="0" marL="0">
              <a:buNone/>
            </a:pPr>
            <a:r>
              <a:rPr lang="en-US" sz="1300" b="1" dirty="0">
                <a:solidFill>
                  <a:srgbClr val="C1512E"/>
                </a:solidFill>
                <a:latin typeface="Calibri" pitchFamily="34" charset="0"/>
                <a:ea typeface="Calibri" pitchFamily="34" charset="-122"/>
                <a:cs typeface="Calibri" pitchFamily="34" charset="-120"/>
              </a:rPr>
              <a:t>R</a:t>
            </a:r>
            <a:endParaRPr lang="en-US" sz="1300" dirty="0"/>
          </a:p>
        </p:txBody>
      </p:sp>
      <p:sp>
        <p:nvSpPr>
          <p:cNvPr id="19" name="Shape 17"/>
          <p:cNvSpPr/>
          <p:nvPr/>
        </p:nvSpPr>
        <p:spPr>
          <a:xfrm>
            <a:off x="4302252" y="3310128"/>
            <a:ext cx="731520" cy="731520"/>
          </a:xfrm>
          <a:prstGeom prst="ellipse">
            <a:avLst/>
          </a:prstGeom>
          <a:ln w="12700">
            <a:solidFill>
              <a:srgbClr val="C1512E">
                <a:alpha val="35000"/>
              </a:srgbClr>
            </a:solidFill>
            <a:prstDash val="solid"/>
          </a:ln>
        </p:spPr>
      </p:sp>
      <p:sp>
        <p:nvSpPr>
          <p:cNvPr id="20" name="Shape 18"/>
          <p:cNvSpPr/>
          <p:nvPr/>
        </p:nvSpPr>
        <p:spPr>
          <a:xfrm>
            <a:off x="7274052" y="3438144"/>
            <a:ext cx="475488" cy="475488"/>
          </a:xfrm>
          <a:prstGeom prst="ellipse">
            <a:avLst/>
          </a:prstGeom>
          <a:solidFill>
            <a:srgbClr val="FFFFFF"/>
          </a:solidFill>
          <a:ln w="19050">
            <a:solidFill>
              <a:srgbClr val="C1512E"/>
            </a:solidFill>
            <a:prstDash val="solid"/>
          </a:ln>
        </p:spPr>
      </p:sp>
      <p:sp>
        <p:nvSpPr>
          <p:cNvPr id="21" name="Text 19"/>
          <p:cNvSpPr/>
          <p:nvPr/>
        </p:nvSpPr>
        <p:spPr>
          <a:xfrm>
            <a:off x="7274052" y="3438144"/>
            <a:ext cx="475488" cy="475488"/>
          </a:xfrm>
          <a:prstGeom prst="rect">
            <a:avLst/>
          </a:prstGeom>
          <a:noFill/>
          <a:ln/>
        </p:spPr>
        <p:txBody>
          <a:bodyPr wrap="square" lIns="0" tIns="0" rIns="0" bIns="0" rtlCol="0" anchor="ctr"/>
          <a:lstStyle/>
          <a:p>
            <a:pPr algn="ctr" indent="0" marL="0">
              <a:buNone/>
            </a:pPr>
            <a:r>
              <a:rPr lang="en-US" sz="1300" b="1" dirty="0">
                <a:solidFill>
                  <a:srgbClr val="C1512E"/>
                </a:solidFill>
                <a:latin typeface="Calibri" pitchFamily="34" charset="0"/>
                <a:ea typeface="Calibri" pitchFamily="34" charset="-122"/>
                <a:cs typeface="Calibri" pitchFamily="34" charset="-120"/>
              </a:rPr>
              <a:t>R</a:t>
            </a:r>
            <a:endParaRPr lang="en-US" sz="1300" dirty="0"/>
          </a:p>
        </p:txBody>
      </p:sp>
      <p:sp>
        <p:nvSpPr>
          <p:cNvPr id="22" name="Shape 20"/>
          <p:cNvSpPr/>
          <p:nvPr/>
        </p:nvSpPr>
        <p:spPr>
          <a:xfrm>
            <a:off x="7146036" y="3310128"/>
            <a:ext cx="731520" cy="731520"/>
          </a:xfrm>
          <a:prstGeom prst="ellipse">
            <a:avLst/>
          </a:prstGeom>
          <a:ln w="12700">
            <a:solidFill>
              <a:srgbClr val="C1512E">
                <a:alpha val="35000"/>
              </a:srgbClr>
            </a:solidFill>
            <a:prstDash val="solid"/>
          </a:ln>
        </p:spPr>
      </p:sp>
      <p:sp>
        <p:nvSpPr>
          <p:cNvPr id="23" name="Shape 21"/>
          <p:cNvSpPr/>
          <p:nvPr/>
        </p:nvSpPr>
        <p:spPr>
          <a:xfrm>
            <a:off x="5852160" y="4626864"/>
            <a:ext cx="475488" cy="475488"/>
          </a:xfrm>
          <a:prstGeom prst="ellipse">
            <a:avLst/>
          </a:prstGeom>
          <a:solidFill>
            <a:srgbClr val="FFFFFF"/>
          </a:solidFill>
          <a:ln w="19050">
            <a:solidFill>
              <a:srgbClr val="C1512E"/>
            </a:solidFill>
            <a:prstDash val="solid"/>
          </a:ln>
        </p:spPr>
      </p:sp>
      <p:sp>
        <p:nvSpPr>
          <p:cNvPr id="24" name="Text 22"/>
          <p:cNvSpPr/>
          <p:nvPr/>
        </p:nvSpPr>
        <p:spPr>
          <a:xfrm>
            <a:off x="5852160" y="4626864"/>
            <a:ext cx="475488" cy="475488"/>
          </a:xfrm>
          <a:prstGeom prst="rect">
            <a:avLst/>
          </a:prstGeom>
          <a:noFill/>
          <a:ln/>
        </p:spPr>
        <p:txBody>
          <a:bodyPr wrap="square" lIns="0" tIns="0" rIns="0" bIns="0" rtlCol="0" anchor="ctr"/>
          <a:lstStyle/>
          <a:p>
            <a:pPr algn="ctr" indent="0" marL="0">
              <a:buNone/>
            </a:pPr>
            <a:r>
              <a:rPr lang="en-US" sz="1300" b="1" dirty="0">
                <a:solidFill>
                  <a:srgbClr val="C1512E"/>
                </a:solidFill>
                <a:latin typeface="Calibri" pitchFamily="34" charset="0"/>
                <a:ea typeface="Calibri" pitchFamily="34" charset="-122"/>
                <a:cs typeface="Calibri" pitchFamily="34" charset="-120"/>
              </a:rPr>
              <a:t>R</a:t>
            </a:r>
            <a:endParaRPr lang="en-US" sz="1300" dirty="0"/>
          </a:p>
        </p:txBody>
      </p:sp>
      <p:sp>
        <p:nvSpPr>
          <p:cNvPr id="25" name="Shape 23"/>
          <p:cNvSpPr/>
          <p:nvPr/>
        </p:nvSpPr>
        <p:spPr>
          <a:xfrm>
            <a:off x="5724144" y="4498848"/>
            <a:ext cx="731520" cy="731520"/>
          </a:xfrm>
          <a:prstGeom prst="ellipse">
            <a:avLst/>
          </a:prstGeom>
          <a:ln w="12700">
            <a:solidFill>
              <a:srgbClr val="C1512E">
                <a:alpha val="35000"/>
              </a:srgbClr>
            </a:solidFill>
            <a:prstDash val="solid"/>
          </a:ln>
        </p:spPr>
      </p:sp>
      <p:sp>
        <p:nvSpPr>
          <p:cNvPr id="26" name="Shape 24"/>
          <p:cNvSpPr/>
          <p:nvPr/>
        </p:nvSpPr>
        <p:spPr>
          <a:xfrm>
            <a:off x="4832604" y="2157984"/>
            <a:ext cx="2514600" cy="658368"/>
          </a:xfrm>
          <a:prstGeom prst="roundRect">
            <a:avLst>
              <a:gd name="adj" fmla="val 13889"/>
            </a:avLst>
          </a:prstGeom>
          <a:solidFill>
            <a:srgbClr val="17242B"/>
          </a:solidFill>
          <a:ln/>
        </p:spPr>
      </p:sp>
      <p:sp>
        <p:nvSpPr>
          <p:cNvPr id="27" name="Text 25"/>
          <p:cNvSpPr/>
          <p:nvPr/>
        </p:nvSpPr>
        <p:spPr>
          <a:xfrm>
            <a:off x="4832604" y="2157984"/>
            <a:ext cx="2514600" cy="658368"/>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Technical quality</a:t>
            </a:r>
            <a:endParaRPr lang="en-US" sz="1450" dirty="0"/>
          </a:p>
        </p:txBody>
      </p:sp>
      <p:sp>
        <p:nvSpPr>
          <p:cNvPr id="28" name="Shape 26"/>
          <p:cNvSpPr/>
          <p:nvPr/>
        </p:nvSpPr>
        <p:spPr>
          <a:xfrm>
            <a:off x="1988820" y="4535424"/>
            <a:ext cx="2514600" cy="658368"/>
          </a:xfrm>
          <a:prstGeom prst="roundRect">
            <a:avLst>
              <a:gd name="adj" fmla="val 13889"/>
            </a:avLst>
          </a:prstGeom>
          <a:solidFill>
            <a:srgbClr val="17242B"/>
          </a:solidFill>
          <a:ln/>
        </p:spPr>
      </p:sp>
      <p:sp>
        <p:nvSpPr>
          <p:cNvPr id="29" name="Text 27"/>
          <p:cNvSpPr/>
          <p:nvPr/>
        </p:nvSpPr>
        <p:spPr>
          <a:xfrm>
            <a:off x="1988820" y="4535424"/>
            <a:ext cx="2514600" cy="658368"/>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Product iteration</a:t>
            </a:r>
            <a:endParaRPr lang="en-US" sz="1450" dirty="0"/>
          </a:p>
        </p:txBody>
      </p:sp>
      <p:sp>
        <p:nvSpPr>
          <p:cNvPr id="30" name="Shape 28"/>
          <p:cNvSpPr/>
          <p:nvPr/>
        </p:nvSpPr>
        <p:spPr>
          <a:xfrm>
            <a:off x="7676388" y="4535424"/>
            <a:ext cx="2514600" cy="658368"/>
          </a:xfrm>
          <a:prstGeom prst="roundRect">
            <a:avLst>
              <a:gd name="adj" fmla="val 13889"/>
            </a:avLst>
          </a:prstGeom>
          <a:solidFill>
            <a:srgbClr val="17242B"/>
          </a:solidFill>
          <a:ln/>
        </p:spPr>
      </p:sp>
      <p:sp>
        <p:nvSpPr>
          <p:cNvPr id="31" name="Text 29"/>
          <p:cNvSpPr/>
          <p:nvPr/>
        </p:nvSpPr>
        <p:spPr>
          <a:xfrm>
            <a:off x="7676388" y="4535424"/>
            <a:ext cx="2514600" cy="658368"/>
          </a:xfrm>
          <a:prstGeom prst="rect">
            <a:avLst/>
          </a:prstGeom>
          <a:noFill/>
          <a:ln/>
        </p:spPr>
        <p:txBody>
          <a:bodyPr wrap="square" lIns="0" tIns="0" rIns="0" bIns="0"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Experimentation</a:t>
            </a:r>
            <a:endParaRPr lang="en-US" sz="1450" dirty="0"/>
          </a:p>
        </p:txBody>
      </p:sp>
      <p:sp>
        <p:nvSpPr>
          <p:cNvPr id="32" name="Text 30"/>
          <p:cNvSpPr/>
          <p:nvPr/>
        </p:nvSpPr>
        <p:spPr>
          <a:xfrm>
            <a:off x="822960" y="2148840"/>
            <a:ext cx="2834640" cy="548640"/>
          </a:xfrm>
          <a:prstGeom prst="rect">
            <a:avLst/>
          </a:prstGeom>
          <a:noFill/>
          <a:ln/>
        </p:spPr>
        <p:txBody>
          <a:bodyPr wrap="square" lIns="0" tIns="0" rIns="0" bIns="0" rtlCol="0" anchor="t"/>
          <a:lstStyle/>
          <a:p>
            <a:pPr indent="0" marL="0">
              <a:lnSpc>
                <a:spcPts val="1500"/>
              </a:lnSpc>
              <a:buNone/>
            </a:pPr>
            <a:r>
              <a:rPr lang="en-US" sz="1100" dirty="0">
                <a:solidFill>
                  <a:srgbClr val="3D5766"/>
                </a:solidFill>
                <a:latin typeface="Calibri" pitchFamily="34" charset="0"/>
                <a:ea typeface="Calibri" pitchFamily="34" charset="-122"/>
                <a:cs typeface="Calibri" pitchFamily="34" charset="-120"/>
              </a:rPr>
              <a:t>+   the two move in the same direction</a:t>
            </a:r>
            <a:endParaRPr lang="en-US" sz="1100" dirty="0"/>
          </a:p>
          <a:p>
            <a:pPr indent="0" marL="0">
              <a:lnSpc>
                <a:spcPts val="1500"/>
              </a:lnSpc>
              <a:buNone/>
            </a:pPr>
            <a:r>
              <a:rPr lang="en-US" sz="1100" dirty="0">
                <a:solidFill>
                  <a:srgbClr val="3D5766"/>
                </a:solidFill>
                <a:latin typeface="Calibri" pitchFamily="34" charset="0"/>
                <a:ea typeface="Calibri" pitchFamily="34" charset="-122"/>
                <a:cs typeface="Calibri" pitchFamily="34" charset="-120"/>
              </a:rPr>
              <a:t>R   a loop that feeds itself</a:t>
            </a:r>
            <a:endParaRPr lang="en-US" sz="1100" dirty="0"/>
          </a:p>
        </p:txBody>
      </p:sp>
      <p:sp>
        <p:nvSpPr>
          <p:cNvPr id="33" name="Text 31"/>
          <p:cNvSpPr/>
          <p:nvPr/>
        </p:nvSpPr>
        <p:spPr>
          <a:xfrm>
            <a:off x="822960" y="5541264"/>
            <a:ext cx="3291840" cy="237744"/>
          </a:xfrm>
          <a:prstGeom prst="rect">
            <a:avLst/>
          </a:prstGeom>
          <a:noFill/>
          <a:ln/>
        </p:spPr>
        <p:txBody>
          <a:bodyPr wrap="square" lIns="0" tIns="0" rIns="0" bIns="0" rtlCol="0" anchor="t"/>
          <a:lstStyle/>
          <a:p>
            <a:pPr indent="0" marL="0">
              <a:buNone/>
            </a:pPr>
            <a:r>
              <a:rPr lang="en-US" sz="1200" b="1" dirty="0">
                <a:solidFill>
                  <a:srgbClr val="C1512E"/>
                </a:solidFill>
                <a:latin typeface="Calibri" pitchFamily="34" charset="0"/>
                <a:ea typeface="Calibri" pitchFamily="34" charset="-122"/>
                <a:cs typeface="Calibri" pitchFamily="34" charset="-120"/>
              </a:rPr>
              <a:t>Quality ⇄ iteration</a:t>
            </a:r>
            <a:endParaRPr lang="en-US" sz="1200" dirty="0"/>
          </a:p>
        </p:txBody>
      </p:sp>
      <p:sp>
        <p:nvSpPr>
          <p:cNvPr id="34" name="Text 32"/>
          <p:cNvSpPr/>
          <p:nvPr/>
        </p:nvSpPr>
        <p:spPr>
          <a:xfrm>
            <a:off x="822960" y="5797296"/>
            <a:ext cx="3291840" cy="658368"/>
          </a:xfrm>
          <a:prstGeom prst="rect">
            <a:avLst/>
          </a:prstGeom>
          <a:noFill/>
          <a:ln/>
        </p:spPr>
        <p:txBody>
          <a:bodyPr wrap="square" lIns="0" tIns="0" rIns="0" bIns="0" rtlCol="0" anchor="t"/>
          <a:lstStyle/>
          <a:p>
            <a:pPr indent="0" marL="0">
              <a:lnSpc>
                <a:spcPts val="1300"/>
              </a:lnSpc>
              <a:buNone/>
            </a:pPr>
            <a:r>
              <a:rPr lang="en-US" sz="1050" dirty="0">
                <a:solidFill>
                  <a:srgbClr val="3D5766"/>
                </a:solidFill>
                <a:latin typeface="Calibri" pitchFamily="34" charset="0"/>
                <a:ea typeface="Calibri" pitchFamily="34" charset="-122"/>
                <a:cs typeface="Calibri" pitchFamily="34" charset="-120"/>
              </a:rPr>
              <a:t>Quality makes change cheap and safe; iterating creates the real demand for quality.</a:t>
            </a:r>
            <a:endParaRPr lang="en-US" sz="1050" dirty="0"/>
          </a:p>
        </p:txBody>
      </p:sp>
      <p:sp>
        <p:nvSpPr>
          <p:cNvPr id="35" name="Text 33"/>
          <p:cNvSpPr/>
          <p:nvPr/>
        </p:nvSpPr>
        <p:spPr>
          <a:xfrm>
            <a:off x="4434840" y="5541264"/>
            <a:ext cx="3291840" cy="237744"/>
          </a:xfrm>
          <a:prstGeom prst="rect">
            <a:avLst/>
          </a:prstGeom>
          <a:noFill/>
          <a:ln/>
        </p:spPr>
        <p:txBody>
          <a:bodyPr wrap="square" lIns="0" tIns="0" rIns="0" bIns="0" rtlCol="0" anchor="t"/>
          <a:lstStyle/>
          <a:p>
            <a:pPr indent="0" marL="0">
              <a:buNone/>
            </a:pPr>
            <a:r>
              <a:rPr lang="en-US" sz="1200" b="1" dirty="0">
                <a:solidFill>
                  <a:srgbClr val="C1512E"/>
                </a:solidFill>
                <a:latin typeface="Calibri" pitchFamily="34" charset="0"/>
                <a:ea typeface="Calibri" pitchFamily="34" charset="-122"/>
                <a:cs typeface="Calibri" pitchFamily="34" charset="-120"/>
              </a:rPr>
              <a:t>Quality ⇄ experimentation</a:t>
            </a:r>
            <a:endParaRPr lang="en-US" sz="1200" dirty="0"/>
          </a:p>
        </p:txBody>
      </p:sp>
      <p:sp>
        <p:nvSpPr>
          <p:cNvPr id="36" name="Text 34"/>
          <p:cNvSpPr/>
          <p:nvPr/>
        </p:nvSpPr>
        <p:spPr>
          <a:xfrm>
            <a:off x="4434840" y="5797296"/>
            <a:ext cx="3291840" cy="658368"/>
          </a:xfrm>
          <a:prstGeom prst="rect">
            <a:avLst/>
          </a:prstGeom>
          <a:noFill/>
          <a:ln/>
        </p:spPr>
        <p:txBody>
          <a:bodyPr wrap="square" lIns="0" tIns="0" rIns="0" bIns="0" rtlCol="0" anchor="t"/>
          <a:lstStyle/>
          <a:p>
            <a:pPr indent="0" marL="0">
              <a:lnSpc>
                <a:spcPts val="1300"/>
              </a:lnSpc>
              <a:buNone/>
            </a:pPr>
            <a:r>
              <a:rPr lang="en-US" sz="1050" dirty="0">
                <a:solidFill>
                  <a:srgbClr val="3D5766"/>
                </a:solidFill>
                <a:latin typeface="Calibri" pitchFamily="34" charset="0"/>
                <a:ea typeface="Calibri" pitchFamily="34" charset="-122"/>
                <a:cs typeface="Calibri" pitchFamily="34" charset="-120"/>
              </a:rPr>
              <a:t>Experiments improve practice, so quality rises; quality shortens cycles, so experiments are cheap to run.</a:t>
            </a:r>
            <a:endParaRPr lang="en-US" sz="1050" dirty="0"/>
          </a:p>
        </p:txBody>
      </p:sp>
      <p:sp>
        <p:nvSpPr>
          <p:cNvPr id="37" name="Text 35"/>
          <p:cNvSpPr/>
          <p:nvPr/>
        </p:nvSpPr>
        <p:spPr>
          <a:xfrm>
            <a:off x="8046720" y="5541264"/>
            <a:ext cx="3291840" cy="237744"/>
          </a:xfrm>
          <a:prstGeom prst="rect">
            <a:avLst/>
          </a:prstGeom>
          <a:noFill/>
          <a:ln/>
        </p:spPr>
        <p:txBody>
          <a:bodyPr wrap="square" lIns="0" tIns="0" rIns="0" bIns="0" rtlCol="0" anchor="t"/>
          <a:lstStyle/>
          <a:p>
            <a:pPr indent="0" marL="0">
              <a:buNone/>
            </a:pPr>
            <a:r>
              <a:rPr lang="en-US" sz="1200" b="1" dirty="0">
                <a:solidFill>
                  <a:srgbClr val="C1512E"/>
                </a:solidFill>
                <a:latin typeface="Calibri" pitchFamily="34" charset="0"/>
                <a:ea typeface="Calibri" pitchFamily="34" charset="-122"/>
                <a:cs typeface="Calibri" pitchFamily="34" charset="-120"/>
              </a:rPr>
              <a:t>Iteration ⇄ experimentation</a:t>
            </a:r>
            <a:endParaRPr lang="en-US" sz="1200" dirty="0"/>
          </a:p>
        </p:txBody>
      </p:sp>
      <p:sp>
        <p:nvSpPr>
          <p:cNvPr id="38" name="Text 36"/>
          <p:cNvSpPr/>
          <p:nvPr/>
        </p:nvSpPr>
        <p:spPr>
          <a:xfrm>
            <a:off x="8046720" y="5797296"/>
            <a:ext cx="3291840" cy="658368"/>
          </a:xfrm>
          <a:prstGeom prst="rect">
            <a:avLst/>
          </a:prstGeom>
          <a:noFill/>
          <a:ln/>
        </p:spPr>
        <p:txBody>
          <a:bodyPr wrap="square" lIns="0" tIns="0" rIns="0" bIns="0" rtlCol="0" anchor="t"/>
          <a:lstStyle/>
          <a:p>
            <a:pPr indent="0" marL="0">
              <a:lnSpc>
                <a:spcPts val="1300"/>
              </a:lnSpc>
              <a:buNone/>
            </a:pPr>
            <a:r>
              <a:rPr lang="en-US" sz="1050" dirty="0">
                <a:solidFill>
                  <a:srgbClr val="3D5766"/>
                </a:solidFill>
                <a:latin typeface="Calibri" pitchFamily="34" charset="0"/>
                <a:ea typeface="Calibri" pitchFamily="34" charset="-122"/>
                <a:cs typeface="Calibri" pitchFamily="34" charset="-120"/>
              </a:rPr>
              <a:t>Short cycles make experiments evaluable; experiments improve how we iterate.</a:t>
            </a:r>
            <a:endParaRPr lang="en-US" sz="1050" dirty="0"/>
          </a:p>
        </p:txBody>
      </p:sp>
      <p:sp>
        <p:nvSpPr>
          <p:cNvPr id="39" name="Shape 37"/>
          <p:cNvSpPr/>
          <p:nvPr/>
        </p:nvSpPr>
        <p:spPr>
          <a:xfrm>
            <a:off x="11259007" y="6291072"/>
            <a:ext cx="137160" cy="137160"/>
          </a:xfrm>
          <a:prstGeom prst="ellipse">
            <a:avLst/>
          </a:prstGeom>
          <a:ln w="12700">
            <a:solidFill>
              <a:srgbClr val="7C8D97"/>
            </a:solidFill>
            <a:prstDash val="solid"/>
          </a:ln>
        </p:spPr>
      </p:sp>
      <p:sp>
        <p:nvSpPr>
          <p:cNvPr id="40" name="Text 38"/>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7C8D97"/>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7242B"/>
        </a:solidFill>
      </p:bgPr>
    </p:bg>
    <p:spTree>
      <p:nvGrpSpPr>
        <p:cNvPr id="1" name=""/>
        <p:cNvGrpSpPr/>
        <p:nvPr/>
      </p:nvGrpSpPr>
      <p:grpSpPr>
        <a:xfrm>
          <a:off x="0" y="0"/>
          <a:ext cx="0" cy="0"/>
          <a:chOff x="0" y="0"/>
          <a:chExt cx="0" cy="0"/>
        </a:xfrm>
      </p:grpSpPr>
      <p:sp>
        <p:nvSpPr>
          <p:cNvPr id="2" name="Text 0"/>
          <p:cNvSpPr/>
          <p:nvPr/>
        </p:nvSpPr>
        <p:spPr>
          <a:xfrm>
            <a:off x="822960" y="566928"/>
            <a:ext cx="8229600" cy="274320"/>
          </a:xfrm>
          <a:prstGeom prst="rect">
            <a:avLst/>
          </a:prstGeom>
          <a:noFill/>
          <a:ln/>
        </p:spPr>
        <p:txBody>
          <a:bodyPr wrap="square" lIns="0" tIns="0" rIns="0" bIns="0" rtlCol="0" anchor="t"/>
          <a:lstStyle/>
          <a:p>
            <a:pPr indent="0" marL="0">
              <a:buNone/>
            </a:pPr>
            <a:r>
              <a:rPr lang="en-US" sz="1150" b="1" spc="220" kern="0" dirty="0">
                <a:solidFill>
                  <a:srgbClr val="C1512E"/>
                </a:solidFill>
                <a:latin typeface="Calibri" pitchFamily="34" charset="0"/>
                <a:ea typeface="Calibri" pitchFamily="34" charset="-122"/>
                <a:cs typeface="Calibri" pitchFamily="34" charset="-120"/>
              </a:rPr>
              <a:t>WHY NOW</a:t>
            </a:r>
            <a:endParaRPr lang="en-US" sz="1150" dirty="0"/>
          </a:p>
        </p:txBody>
      </p:sp>
      <p:sp>
        <p:nvSpPr>
          <p:cNvPr id="3" name="Text 1"/>
          <p:cNvSpPr/>
          <p:nvPr/>
        </p:nvSpPr>
        <p:spPr>
          <a:xfrm>
            <a:off x="822960" y="896112"/>
            <a:ext cx="10424160" cy="548640"/>
          </a:xfrm>
          <a:prstGeom prst="rect">
            <a:avLst/>
          </a:prstGeom>
          <a:noFill/>
          <a:ln/>
        </p:spPr>
        <p:txBody>
          <a:bodyPr wrap="square" lIns="0" tIns="0" rIns="0" bIns="0" rtlCol="0" anchor="t"/>
          <a:lstStyle/>
          <a:p>
            <a:pPr indent="0" marL="0">
              <a:buNone/>
            </a:pPr>
            <a:r>
              <a:rPr lang="en-US" sz="3200" b="1" dirty="0">
                <a:solidFill>
                  <a:srgbClr val="FFFFFF"/>
                </a:solidFill>
                <a:latin typeface="Cambria" pitchFamily="34" charset="0"/>
                <a:ea typeface="Cambria" pitchFamily="34" charset="-122"/>
                <a:cs typeface="Cambria" pitchFamily="34" charset="-120"/>
              </a:rPr>
              <a:t>The gap is not new. It just got much wider.</a:t>
            </a:r>
            <a:endParaRPr lang="en-US" sz="3200" dirty="0"/>
          </a:p>
        </p:txBody>
      </p:sp>
      <p:sp>
        <p:nvSpPr>
          <p:cNvPr id="4" name="Shape 2"/>
          <p:cNvSpPr/>
          <p:nvPr/>
        </p:nvSpPr>
        <p:spPr>
          <a:xfrm>
            <a:off x="1051560" y="5138928"/>
            <a:ext cx="10241280" cy="0"/>
          </a:xfrm>
          <a:prstGeom prst="line">
            <a:avLst/>
          </a:prstGeom>
          <a:noFill/>
          <a:ln w="12700">
            <a:solidFill>
              <a:srgbClr val="9FB4BF"/>
            </a:solidFill>
            <a:prstDash val="solid"/>
            <a:tailEnd type="triangle"/>
          </a:ln>
        </p:spPr>
      </p:sp>
      <p:sp>
        <p:nvSpPr>
          <p:cNvPr id="5" name="Shape 3"/>
          <p:cNvSpPr/>
          <p:nvPr/>
        </p:nvSpPr>
        <p:spPr>
          <a:xfrm flipV="1">
            <a:off x="1051560" y="1737360"/>
            <a:ext cx="0" cy="3401568"/>
          </a:xfrm>
          <a:prstGeom prst="line">
            <a:avLst/>
          </a:prstGeom>
          <a:noFill/>
          <a:ln w="12700">
            <a:solidFill>
              <a:srgbClr val="9FB4BF"/>
            </a:solidFill>
            <a:prstDash val="solid"/>
          </a:ln>
        </p:spPr>
      </p:sp>
      <p:sp>
        <p:nvSpPr>
          <p:cNvPr id="6" name="Text 4"/>
          <p:cNvSpPr/>
          <p:nvPr/>
        </p:nvSpPr>
        <p:spPr>
          <a:xfrm>
            <a:off x="10104120" y="5248656"/>
            <a:ext cx="1188720" cy="256032"/>
          </a:xfrm>
          <a:prstGeom prst="rect">
            <a:avLst/>
          </a:prstGeom>
          <a:noFill/>
          <a:ln/>
        </p:spPr>
        <p:txBody>
          <a:bodyPr wrap="square" lIns="0" tIns="0" rIns="0" bIns="0" rtlCol="0" anchor="t"/>
          <a:lstStyle/>
          <a:p>
            <a:pPr algn="r" indent="0" marL="0">
              <a:buNone/>
            </a:pPr>
            <a:r>
              <a:rPr lang="en-US" sz="1050" i="1" dirty="0">
                <a:solidFill>
                  <a:srgbClr val="9FB4BF"/>
                </a:solidFill>
                <a:latin typeface="Calibri" pitchFamily="34" charset="0"/>
                <a:ea typeface="Calibri" pitchFamily="34" charset="-122"/>
                <a:cs typeface="Calibri" pitchFamily="34" charset="-120"/>
              </a:rPr>
              <a:t>time</a:t>
            </a:r>
            <a:endParaRPr lang="en-US" sz="1050" dirty="0"/>
          </a:p>
        </p:txBody>
      </p:sp>
      <p:sp>
        <p:nvSpPr>
          <p:cNvPr id="7" name="Text 5"/>
          <p:cNvSpPr/>
          <p:nvPr/>
        </p:nvSpPr>
        <p:spPr>
          <a:xfrm>
            <a:off x="1179576" y="2020824"/>
            <a:ext cx="1463040" cy="256032"/>
          </a:xfrm>
          <a:prstGeom prst="rect">
            <a:avLst/>
          </a:prstGeom>
          <a:noFill/>
          <a:ln/>
        </p:spPr>
        <p:txBody>
          <a:bodyPr wrap="square" lIns="0" tIns="0" rIns="0" bIns="0" rtlCol="0" anchor="t"/>
          <a:lstStyle/>
          <a:p>
            <a:pPr indent="0" marL="0">
              <a:buNone/>
            </a:pPr>
            <a:r>
              <a:rPr lang="en-US" sz="1050" i="1" dirty="0">
                <a:solidFill>
                  <a:srgbClr val="9FB4BF"/>
                </a:solidFill>
                <a:latin typeface="Calibri" pitchFamily="34" charset="0"/>
                <a:ea typeface="Calibri" pitchFamily="34" charset="-122"/>
                <a:cs typeface="Calibri" pitchFamily="34" charset="-120"/>
              </a:rPr>
              <a:t>capability</a:t>
            </a:r>
            <a:endParaRPr lang="en-US" sz="1050" dirty="0"/>
          </a:p>
        </p:txBody>
      </p:sp>
      <p:sp>
        <p:nvSpPr>
          <p:cNvPr id="8" name="Shape 6"/>
          <p:cNvSpPr/>
          <p:nvPr/>
        </p:nvSpPr>
        <p:spPr>
          <a:xfrm>
            <a:off x="7818120" y="1691640"/>
            <a:ext cx="0" cy="3447288"/>
          </a:xfrm>
          <a:prstGeom prst="line">
            <a:avLst/>
          </a:prstGeom>
          <a:noFill/>
          <a:ln w="12700">
            <a:solidFill>
              <a:srgbClr val="9FB4BF"/>
            </a:solidFill>
            <a:prstDash val="sysDot"/>
          </a:ln>
        </p:spPr>
      </p:sp>
      <p:sp>
        <p:nvSpPr>
          <p:cNvPr id="9" name="Text 7"/>
          <p:cNvSpPr/>
          <p:nvPr/>
        </p:nvSpPr>
        <p:spPr>
          <a:xfrm>
            <a:off x="7360920" y="1399032"/>
            <a:ext cx="914400" cy="256032"/>
          </a:xfrm>
          <a:prstGeom prst="rect">
            <a:avLst/>
          </a:prstGeom>
          <a:noFill/>
          <a:ln/>
        </p:spPr>
        <p:txBody>
          <a:bodyPr wrap="square" lIns="0" tIns="0" rIns="0" bIns="0" rtlCol="0" anchor="t"/>
          <a:lstStyle/>
          <a:p>
            <a:pPr algn="ctr" indent="0" marL="0">
              <a:buNone/>
            </a:pPr>
            <a:r>
              <a:rPr lang="en-US" sz="1050" b="1" dirty="0">
                <a:solidFill>
                  <a:srgbClr val="9FB4BF"/>
                </a:solidFill>
                <a:latin typeface="Calibri" pitchFamily="34" charset="0"/>
                <a:ea typeface="Calibri" pitchFamily="34" charset="-122"/>
                <a:cs typeface="Calibri" pitchFamily="34" charset="-120"/>
              </a:rPr>
              <a:t>today</a:t>
            </a:r>
            <a:endParaRPr lang="en-US" sz="1050" dirty="0"/>
          </a:p>
        </p:txBody>
      </p:sp>
      <p:sp>
        <p:nvSpPr>
          <p:cNvPr id="10" name="Shape 8"/>
          <p:cNvSpPr/>
          <p:nvPr/>
        </p:nvSpPr>
        <p:spPr>
          <a:xfrm flipV="1">
            <a:off x="1325880" y="3977640"/>
            <a:ext cx="2606040" cy="338328"/>
          </a:xfrm>
          <a:prstGeom prst="line">
            <a:avLst/>
          </a:prstGeom>
          <a:noFill/>
          <a:ln w="34925">
            <a:solidFill>
              <a:srgbClr val="2F7D6B"/>
            </a:solidFill>
            <a:prstDash val="solid"/>
          </a:ln>
        </p:spPr>
      </p:sp>
      <p:sp>
        <p:nvSpPr>
          <p:cNvPr id="11" name="Shape 9"/>
          <p:cNvSpPr/>
          <p:nvPr/>
        </p:nvSpPr>
        <p:spPr>
          <a:xfrm flipV="1">
            <a:off x="3931920" y="3703320"/>
            <a:ext cx="1874520" cy="274320"/>
          </a:xfrm>
          <a:prstGeom prst="line">
            <a:avLst/>
          </a:prstGeom>
          <a:noFill/>
          <a:ln w="34925">
            <a:solidFill>
              <a:srgbClr val="2F7D6B"/>
            </a:solidFill>
            <a:prstDash val="solid"/>
          </a:ln>
        </p:spPr>
      </p:sp>
      <p:sp>
        <p:nvSpPr>
          <p:cNvPr id="12" name="Shape 10"/>
          <p:cNvSpPr/>
          <p:nvPr/>
        </p:nvSpPr>
        <p:spPr>
          <a:xfrm flipV="1">
            <a:off x="5806440" y="3611880"/>
            <a:ext cx="548640" cy="91440"/>
          </a:xfrm>
          <a:prstGeom prst="line">
            <a:avLst/>
          </a:prstGeom>
          <a:noFill/>
          <a:ln w="34925">
            <a:solidFill>
              <a:srgbClr val="2F7D6B"/>
            </a:solidFill>
            <a:prstDash val="solid"/>
          </a:ln>
        </p:spPr>
      </p:sp>
      <p:sp>
        <p:nvSpPr>
          <p:cNvPr id="13" name="Shape 11"/>
          <p:cNvSpPr/>
          <p:nvPr/>
        </p:nvSpPr>
        <p:spPr>
          <a:xfrm flipV="1">
            <a:off x="6355080" y="2487168"/>
            <a:ext cx="822960" cy="1124712"/>
          </a:xfrm>
          <a:prstGeom prst="line">
            <a:avLst/>
          </a:prstGeom>
          <a:noFill/>
          <a:ln w="34925">
            <a:solidFill>
              <a:srgbClr val="2F7D6B"/>
            </a:solidFill>
            <a:prstDash val="solid"/>
          </a:ln>
        </p:spPr>
      </p:sp>
      <p:sp>
        <p:nvSpPr>
          <p:cNvPr id="14" name="Shape 12"/>
          <p:cNvSpPr/>
          <p:nvPr/>
        </p:nvSpPr>
        <p:spPr>
          <a:xfrm flipV="1">
            <a:off x="7178040" y="2377440"/>
            <a:ext cx="640080" cy="109728"/>
          </a:xfrm>
          <a:prstGeom prst="line">
            <a:avLst/>
          </a:prstGeom>
          <a:noFill/>
          <a:ln w="34925">
            <a:solidFill>
              <a:srgbClr val="2F7D6B"/>
            </a:solidFill>
            <a:prstDash val="solid"/>
          </a:ln>
        </p:spPr>
      </p:sp>
      <p:sp>
        <p:nvSpPr>
          <p:cNvPr id="15" name="Shape 13"/>
          <p:cNvSpPr/>
          <p:nvPr/>
        </p:nvSpPr>
        <p:spPr>
          <a:xfrm flipV="1">
            <a:off x="7818120" y="2103120"/>
            <a:ext cx="1691640" cy="274320"/>
          </a:xfrm>
          <a:prstGeom prst="line">
            <a:avLst/>
          </a:prstGeom>
          <a:noFill/>
          <a:ln w="34925">
            <a:solidFill>
              <a:srgbClr val="2F7D6B"/>
            </a:solidFill>
            <a:prstDash val="dash"/>
          </a:ln>
        </p:spPr>
      </p:sp>
      <p:sp>
        <p:nvSpPr>
          <p:cNvPr id="16" name="Shape 14"/>
          <p:cNvSpPr/>
          <p:nvPr/>
        </p:nvSpPr>
        <p:spPr>
          <a:xfrm flipV="1">
            <a:off x="9509760" y="1691640"/>
            <a:ext cx="1554480" cy="411480"/>
          </a:xfrm>
          <a:prstGeom prst="line">
            <a:avLst/>
          </a:prstGeom>
          <a:noFill/>
          <a:ln w="34925">
            <a:solidFill>
              <a:srgbClr val="2F7D6B"/>
            </a:solidFill>
            <a:prstDash val="dash"/>
          </a:ln>
        </p:spPr>
      </p:sp>
      <p:sp>
        <p:nvSpPr>
          <p:cNvPr id="17" name="Text 15"/>
          <p:cNvSpPr/>
          <p:nvPr/>
        </p:nvSpPr>
        <p:spPr>
          <a:xfrm>
            <a:off x="1600200" y="3493008"/>
            <a:ext cx="2743200" cy="256032"/>
          </a:xfrm>
          <a:prstGeom prst="rect">
            <a:avLst/>
          </a:prstGeom>
          <a:noFill/>
          <a:ln/>
        </p:spPr>
        <p:txBody>
          <a:bodyPr wrap="square" lIns="0" tIns="0" rIns="0" bIns="0" rtlCol="0" anchor="t"/>
          <a:lstStyle/>
          <a:p>
            <a:pPr indent="0" marL="0">
              <a:buNone/>
            </a:pPr>
            <a:r>
              <a:rPr lang="en-US" sz="1200" b="1" dirty="0">
                <a:solidFill>
                  <a:srgbClr val="2F7D6B"/>
                </a:solidFill>
                <a:latin typeface="Calibri" pitchFamily="34" charset="0"/>
                <a:ea typeface="Calibri" pitchFamily="34" charset="-122"/>
                <a:cs typeface="Calibri" pitchFamily="34" charset="-120"/>
              </a:rPr>
              <a:t>what is technically feasible</a:t>
            </a:r>
            <a:endParaRPr lang="en-US" sz="1200" dirty="0"/>
          </a:p>
        </p:txBody>
      </p:sp>
      <p:sp>
        <p:nvSpPr>
          <p:cNvPr id="18" name="Shape 16"/>
          <p:cNvSpPr/>
          <p:nvPr/>
        </p:nvSpPr>
        <p:spPr>
          <a:xfrm>
            <a:off x="6272784" y="3529584"/>
            <a:ext cx="164592" cy="164592"/>
          </a:xfrm>
          <a:prstGeom prst="ellipse">
            <a:avLst/>
          </a:prstGeom>
          <a:solidFill>
            <a:srgbClr val="C1512E"/>
          </a:solidFill>
          <a:ln/>
        </p:spPr>
      </p:sp>
      <p:sp>
        <p:nvSpPr>
          <p:cNvPr id="19" name="Text 17"/>
          <p:cNvSpPr/>
          <p:nvPr/>
        </p:nvSpPr>
        <p:spPr>
          <a:xfrm>
            <a:off x="5138928" y="2651760"/>
            <a:ext cx="1371600" cy="548640"/>
          </a:xfrm>
          <a:prstGeom prst="rect">
            <a:avLst/>
          </a:prstGeom>
          <a:noFill/>
          <a:ln/>
        </p:spPr>
        <p:txBody>
          <a:bodyPr wrap="square" lIns="0" tIns="0" rIns="0" bIns="0" rtlCol="0" anchor="t"/>
          <a:lstStyle/>
          <a:p>
            <a:pPr algn="r" indent="0" marL="0">
              <a:lnSpc>
                <a:spcPts val="1400"/>
              </a:lnSpc>
              <a:buNone/>
            </a:pPr>
            <a:r>
              <a:rPr lang="en-US" sz="1100" b="1" dirty="0">
                <a:solidFill>
                  <a:srgbClr val="C1512E"/>
                </a:solidFill>
                <a:latin typeface="Calibri" pitchFamily="34" charset="0"/>
                <a:ea typeface="Calibri" pitchFamily="34" charset="-122"/>
                <a:cs typeface="Calibri" pitchFamily="34" charset="-120"/>
              </a:rPr>
              <a:t>AI prototyping</a:t>
            </a:r>
            <a:endParaRPr lang="en-US" sz="1100" dirty="0"/>
          </a:p>
          <a:p>
            <a:pPr algn="r" indent="0" marL="0">
              <a:lnSpc>
                <a:spcPts val="1400"/>
              </a:lnSpc>
              <a:buNone/>
            </a:pPr>
            <a:r>
              <a:rPr lang="en-US" sz="1100" b="1" dirty="0">
                <a:solidFill>
                  <a:srgbClr val="C1512E"/>
                </a:solidFill>
                <a:latin typeface="Calibri" pitchFamily="34" charset="0"/>
                <a:ea typeface="Calibri" pitchFamily="34" charset="-122"/>
                <a:cs typeface="Calibri" pitchFamily="34" charset="-120"/>
              </a:rPr>
              <a:t>arrives</a:t>
            </a:r>
            <a:endParaRPr lang="en-US" sz="1100" dirty="0"/>
          </a:p>
        </p:txBody>
      </p:sp>
      <p:sp>
        <p:nvSpPr>
          <p:cNvPr id="20" name="Shape 18"/>
          <p:cNvSpPr/>
          <p:nvPr/>
        </p:nvSpPr>
        <p:spPr>
          <a:xfrm flipV="1">
            <a:off x="6382512" y="3218688"/>
            <a:ext cx="164592" cy="310896"/>
          </a:xfrm>
          <a:prstGeom prst="line">
            <a:avLst/>
          </a:prstGeom>
          <a:noFill/>
          <a:ln w="15875">
            <a:solidFill>
              <a:srgbClr val="C1512E"/>
            </a:solidFill>
            <a:prstDash val="solid"/>
            <a:headEnd type="triangle"/>
          </a:ln>
        </p:spPr>
      </p:sp>
      <p:sp>
        <p:nvSpPr>
          <p:cNvPr id="21" name="Shape 19"/>
          <p:cNvSpPr/>
          <p:nvPr/>
        </p:nvSpPr>
        <p:spPr>
          <a:xfrm flipV="1">
            <a:off x="1325880" y="4617720"/>
            <a:ext cx="2606040" cy="118872"/>
          </a:xfrm>
          <a:prstGeom prst="line">
            <a:avLst/>
          </a:prstGeom>
          <a:noFill/>
          <a:ln w="34925">
            <a:solidFill>
              <a:srgbClr val="9FB4BF"/>
            </a:solidFill>
            <a:prstDash val="solid"/>
          </a:ln>
        </p:spPr>
      </p:sp>
      <p:sp>
        <p:nvSpPr>
          <p:cNvPr id="22" name="Shape 20"/>
          <p:cNvSpPr/>
          <p:nvPr/>
        </p:nvSpPr>
        <p:spPr>
          <a:xfrm flipV="1">
            <a:off x="3931920" y="4480560"/>
            <a:ext cx="2103120" cy="137160"/>
          </a:xfrm>
          <a:prstGeom prst="line">
            <a:avLst/>
          </a:prstGeom>
          <a:noFill/>
          <a:ln w="34925">
            <a:solidFill>
              <a:srgbClr val="9FB4BF"/>
            </a:solidFill>
            <a:prstDash val="solid"/>
          </a:ln>
        </p:spPr>
      </p:sp>
      <p:sp>
        <p:nvSpPr>
          <p:cNvPr id="23" name="Shape 21"/>
          <p:cNvSpPr/>
          <p:nvPr/>
        </p:nvSpPr>
        <p:spPr>
          <a:xfrm flipV="1">
            <a:off x="6035040" y="4407408"/>
            <a:ext cx="1783080" cy="73152"/>
          </a:xfrm>
          <a:prstGeom prst="line">
            <a:avLst/>
          </a:prstGeom>
          <a:noFill/>
          <a:ln w="34925">
            <a:solidFill>
              <a:srgbClr val="9FB4BF"/>
            </a:solidFill>
            <a:prstDash val="solid"/>
          </a:ln>
        </p:spPr>
      </p:sp>
      <p:sp>
        <p:nvSpPr>
          <p:cNvPr id="24" name="Shape 22"/>
          <p:cNvSpPr/>
          <p:nvPr/>
        </p:nvSpPr>
        <p:spPr>
          <a:xfrm flipV="1">
            <a:off x="7818120" y="4279392"/>
            <a:ext cx="1691640" cy="128016"/>
          </a:xfrm>
          <a:prstGeom prst="line">
            <a:avLst/>
          </a:prstGeom>
          <a:noFill/>
          <a:ln w="34925">
            <a:solidFill>
              <a:srgbClr val="9FB4BF"/>
            </a:solidFill>
            <a:prstDash val="dash"/>
          </a:ln>
        </p:spPr>
      </p:sp>
      <p:sp>
        <p:nvSpPr>
          <p:cNvPr id="25" name="Shape 23"/>
          <p:cNvSpPr/>
          <p:nvPr/>
        </p:nvSpPr>
        <p:spPr>
          <a:xfrm flipV="1">
            <a:off x="9509760" y="4114800"/>
            <a:ext cx="1554480" cy="164592"/>
          </a:xfrm>
          <a:prstGeom prst="line">
            <a:avLst/>
          </a:prstGeom>
          <a:noFill/>
          <a:ln w="34925">
            <a:solidFill>
              <a:srgbClr val="9FB4BF"/>
            </a:solidFill>
            <a:prstDash val="dash"/>
          </a:ln>
        </p:spPr>
      </p:sp>
      <p:sp>
        <p:nvSpPr>
          <p:cNvPr id="26" name="Text 24"/>
          <p:cNvSpPr/>
          <p:nvPr/>
        </p:nvSpPr>
        <p:spPr>
          <a:xfrm>
            <a:off x="3200400" y="4809744"/>
            <a:ext cx="2926080" cy="256032"/>
          </a:xfrm>
          <a:prstGeom prst="rect">
            <a:avLst/>
          </a:prstGeom>
          <a:noFill/>
          <a:ln/>
        </p:spPr>
        <p:txBody>
          <a:bodyPr wrap="square" lIns="0" tIns="0" rIns="0" bIns="0" rtlCol="0" anchor="t"/>
          <a:lstStyle/>
          <a:p>
            <a:pPr indent="0" marL="0">
              <a:buNone/>
            </a:pPr>
            <a:r>
              <a:rPr lang="en-US" sz="1200" b="1" dirty="0">
                <a:solidFill>
                  <a:srgbClr val="9FB4BF"/>
                </a:solidFill>
                <a:latin typeface="Calibri" pitchFamily="34" charset="0"/>
                <a:ea typeface="Calibri" pitchFamily="34" charset="-122"/>
                <a:cs typeface="Calibri" pitchFamily="34" charset="-120"/>
              </a:rPr>
              <a:t>what we actually deliver</a:t>
            </a:r>
            <a:endParaRPr lang="en-US" sz="1200" dirty="0"/>
          </a:p>
        </p:txBody>
      </p:sp>
      <p:sp>
        <p:nvSpPr>
          <p:cNvPr id="27" name="Shape 25"/>
          <p:cNvSpPr/>
          <p:nvPr/>
        </p:nvSpPr>
        <p:spPr>
          <a:xfrm>
            <a:off x="1874520" y="4233672"/>
            <a:ext cx="0" cy="466344"/>
          </a:xfrm>
          <a:prstGeom prst="line">
            <a:avLst/>
          </a:prstGeom>
          <a:noFill/>
          <a:ln w="19050">
            <a:solidFill>
              <a:srgbClr val="C1512E"/>
            </a:solidFill>
            <a:prstDash val="solid"/>
            <a:headEnd type="triangle"/>
            <a:tailEnd type="triangle"/>
          </a:ln>
        </p:spPr>
      </p:sp>
      <p:sp>
        <p:nvSpPr>
          <p:cNvPr id="28" name="Text 26"/>
          <p:cNvSpPr/>
          <p:nvPr/>
        </p:nvSpPr>
        <p:spPr>
          <a:xfrm>
            <a:off x="960120" y="4261104"/>
            <a:ext cx="777240" cy="457200"/>
          </a:xfrm>
          <a:prstGeom prst="rect">
            <a:avLst/>
          </a:prstGeom>
          <a:noFill/>
          <a:ln/>
        </p:spPr>
        <p:txBody>
          <a:bodyPr wrap="square" lIns="0" tIns="0" rIns="0" bIns="0" rtlCol="0" anchor="t"/>
          <a:lstStyle/>
          <a:p>
            <a:pPr algn="r" indent="0" marL="0">
              <a:lnSpc>
                <a:spcPts val="1200"/>
              </a:lnSpc>
              <a:buNone/>
            </a:pPr>
            <a:r>
              <a:rPr lang="en-US" sz="1050" b="1" dirty="0">
                <a:solidFill>
                  <a:srgbClr val="C1512E"/>
                </a:solidFill>
                <a:latin typeface="Calibri" pitchFamily="34" charset="0"/>
                <a:ea typeface="Calibri" pitchFamily="34" charset="-122"/>
                <a:cs typeface="Calibri" pitchFamily="34" charset="-120"/>
              </a:rPr>
              <a:t>the gap</a:t>
            </a:r>
            <a:endParaRPr lang="en-US" sz="1050" dirty="0"/>
          </a:p>
          <a:p>
            <a:pPr algn="r" indent="0" marL="0">
              <a:lnSpc>
                <a:spcPts val="1200"/>
              </a:lnSpc>
              <a:buNone/>
            </a:pPr>
            <a:r>
              <a:rPr lang="en-US" sz="1050" b="1" dirty="0">
                <a:solidFill>
                  <a:srgbClr val="C1512E"/>
                </a:solidFill>
                <a:latin typeface="Calibri" pitchFamily="34" charset="0"/>
                <a:ea typeface="Calibri" pitchFamily="34" charset="-122"/>
                <a:cs typeface="Calibri" pitchFamily="34" charset="-120"/>
              </a:rPr>
              <a:t>then</a:t>
            </a:r>
            <a:endParaRPr lang="en-US" sz="1050" dirty="0"/>
          </a:p>
        </p:txBody>
      </p:sp>
      <p:sp>
        <p:nvSpPr>
          <p:cNvPr id="29" name="Shape 27"/>
          <p:cNvSpPr/>
          <p:nvPr/>
        </p:nvSpPr>
        <p:spPr>
          <a:xfrm>
            <a:off x="11064240" y="1783080"/>
            <a:ext cx="0" cy="2240280"/>
          </a:xfrm>
          <a:prstGeom prst="line">
            <a:avLst/>
          </a:prstGeom>
          <a:noFill/>
          <a:ln w="19050">
            <a:solidFill>
              <a:srgbClr val="C1512E"/>
            </a:solidFill>
            <a:prstDash val="solid"/>
            <a:headEnd type="triangle"/>
            <a:tailEnd type="triangle"/>
          </a:ln>
        </p:spPr>
      </p:sp>
      <p:sp>
        <p:nvSpPr>
          <p:cNvPr id="30" name="Text 28"/>
          <p:cNvSpPr/>
          <p:nvPr/>
        </p:nvSpPr>
        <p:spPr>
          <a:xfrm>
            <a:off x="10012680" y="2697480"/>
            <a:ext cx="914400" cy="457200"/>
          </a:xfrm>
          <a:prstGeom prst="rect">
            <a:avLst/>
          </a:prstGeom>
          <a:noFill/>
          <a:ln/>
        </p:spPr>
        <p:txBody>
          <a:bodyPr wrap="square" lIns="0" tIns="0" rIns="0" bIns="0" rtlCol="0" anchor="t"/>
          <a:lstStyle/>
          <a:p>
            <a:pPr algn="r" indent="0" marL="0">
              <a:lnSpc>
                <a:spcPts val="1400"/>
              </a:lnSpc>
              <a:buNone/>
            </a:pPr>
            <a:r>
              <a:rPr lang="en-US" sz="1200" b="1" dirty="0">
                <a:solidFill>
                  <a:srgbClr val="C1512E"/>
                </a:solidFill>
                <a:latin typeface="Calibri" pitchFamily="34" charset="0"/>
                <a:ea typeface="Calibri" pitchFamily="34" charset="-122"/>
                <a:cs typeface="Calibri" pitchFamily="34" charset="-120"/>
              </a:rPr>
              <a:t>the gap</a:t>
            </a:r>
            <a:endParaRPr lang="en-US" sz="1200" dirty="0"/>
          </a:p>
          <a:p>
            <a:pPr algn="r" indent="0" marL="0">
              <a:lnSpc>
                <a:spcPts val="1400"/>
              </a:lnSpc>
              <a:buNone/>
            </a:pPr>
            <a:r>
              <a:rPr lang="en-US" sz="1200" b="1" dirty="0">
                <a:solidFill>
                  <a:srgbClr val="C1512E"/>
                </a:solidFill>
                <a:latin typeface="Calibri" pitchFamily="34" charset="0"/>
                <a:ea typeface="Calibri" pitchFamily="34" charset="-122"/>
                <a:cs typeface="Calibri" pitchFamily="34" charset="-120"/>
              </a:rPr>
              <a:t>now</a:t>
            </a:r>
            <a:endParaRPr lang="en-US" sz="1200" dirty="0"/>
          </a:p>
        </p:txBody>
      </p:sp>
      <p:sp>
        <p:nvSpPr>
          <p:cNvPr id="31" name="Text 29"/>
          <p:cNvSpPr/>
          <p:nvPr/>
        </p:nvSpPr>
        <p:spPr>
          <a:xfrm>
            <a:off x="822960" y="5806440"/>
            <a:ext cx="10424160" cy="457200"/>
          </a:xfrm>
          <a:prstGeom prst="rect">
            <a:avLst/>
          </a:prstGeom>
          <a:noFill/>
          <a:ln/>
        </p:spPr>
        <p:txBody>
          <a:bodyPr wrap="square" lIns="0" tIns="0" rIns="0" bIns="0" rtlCol="0" anchor="t"/>
          <a:lstStyle/>
          <a:p>
            <a:pPr indent="0" marL="0">
              <a:buNone/>
            </a:pPr>
            <a:r>
              <a:rPr lang="en-US" sz="1550" b="1" dirty="0">
                <a:solidFill>
                  <a:srgbClr val="C1512E"/>
                </a:solidFill>
                <a:latin typeface="Calibri" pitchFamily="34" charset="0"/>
                <a:ea typeface="Calibri" pitchFamily="34" charset="-122"/>
                <a:cs typeface="Calibri" pitchFamily="34" charset="-120"/>
              </a:rPr>
              <a:t>The opportunity: </a:t>
            </a:r>
            <a:pPr indent="0" marL="0">
              <a:buNone/>
            </a:pPr>
            <a:r>
              <a:rPr lang="en-US" sz="1550" dirty="0">
                <a:solidFill>
                  <a:srgbClr val="FFFFFF"/>
                </a:solidFill>
                <a:latin typeface="Calibri" pitchFamily="34" charset="0"/>
                <a:ea typeface="Calibri" pitchFamily="34" charset="-122"/>
                <a:cs typeface="Calibri" pitchFamily="34" charset="-120"/>
              </a:rPr>
              <a:t>to be the department that works out how modern delivery actually functions inside a public agency.</a:t>
            </a:r>
            <a:endParaRPr lang="en-US" sz="1550" dirty="0"/>
          </a:p>
        </p:txBody>
      </p:sp>
      <p:sp>
        <p:nvSpPr>
          <p:cNvPr id="32" name="Shape 30"/>
          <p:cNvSpPr/>
          <p:nvPr/>
        </p:nvSpPr>
        <p:spPr>
          <a:xfrm>
            <a:off x="11259007" y="6291072"/>
            <a:ext cx="137160" cy="137160"/>
          </a:xfrm>
          <a:prstGeom prst="ellipse">
            <a:avLst/>
          </a:prstGeom>
          <a:ln w="12700">
            <a:solidFill>
              <a:srgbClr val="C1512E"/>
            </a:solidFill>
            <a:prstDash val="solid"/>
          </a:ln>
        </p:spPr>
      </p:sp>
      <p:sp>
        <p:nvSpPr>
          <p:cNvPr id="33" name="Text 31"/>
          <p:cNvSpPr/>
          <p:nvPr/>
        </p:nvSpPr>
        <p:spPr>
          <a:xfrm>
            <a:off x="11441887" y="6236208"/>
            <a:ext cx="365760" cy="256032"/>
          </a:xfrm>
          <a:prstGeom prst="rect">
            <a:avLst/>
          </a:prstGeom>
          <a:noFill/>
          <a:ln/>
        </p:spPr>
        <p:txBody>
          <a:bodyPr wrap="square" lIns="0" tIns="0" rIns="0" bIns="0" rtlCol="0" anchor="t"/>
          <a:lstStyle/>
          <a:p>
            <a:pPr algn="l" indent="0" marL="0">
              <a:buNone/>
            </a:pPr>
            <a:r>
              <a:rPr lang="en-US" sz="1000" dirty="0">
                <a:solidFill>
                  <a:srgbClr val="9FB4BF"/>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good development looks like for us</dc:title>
  <dc:subject>PptxGenJS Presentation</dc:subject>
  <dc:creator>Vision pitch</dc:creator>
  <cp:lastModifiedBy>Vision pitch</cp:lastModifiedBy>
  <cp:revision>1</cp:revision>
  <dcterms:created xsi:type="dcterms:W3CDTF">2026-08-19T19:49:12Z</dcterms:created>
  <dcterms:modified xsi:type="dcterms:W3CDTF">2026-08-19T19:49:12Z</dcterms:modified>
</cp:coreProperties>
</file>